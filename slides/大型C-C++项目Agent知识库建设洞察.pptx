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749808"/>
            <a:ext cx="27432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AI-READY KNOWLEDGE BASE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75488" y="960120"/>
            <a:ext cx="598932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 C/C++ 项目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知识库建设洞察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75488" y="2212848"/>
            <a:ext cx="3840480" cy="48463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2212848"/>
            <a:ext cx="36576" cy="48463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" y="2276856"/>
            <a:ext cx="3611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从业界实践、方法论与技术栈出发，构建让编码 Agent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" y="2459736"/>
            <a:ext cx="3611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“写之前先理解、写之后可验证”的工程知识体系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60920" y="1417320"/>
            <a:ext cx="1581912" cy="146304"/>
          </a:xfrm>
          <a:prstGeom prst="line">
            <a:avLst/>
          </a:prstGeom>
          <a:noFill/>
          <a:ln w="17780">
            <a:solidFill>
              <a:srgbClr val="AAB1BC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360920" y="1508760"/>
            <a:ext cx="685800" cy="868680"/>
          </a:xfrm>
          <a:prstGeom prst="line">
            <a:avLst/>
          </a:prstGeom>
          <a:noFill/>
          <a:ln w="17780">
            <a:solidFill>
              <a:srgbClr val="AAB1BC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281160" y="1508760"/>
            <a:ext cx="320040" cy="960120"/>
          </a:xfrm>
          <a:prstGeom prst="line">
            <a:avLst/>
          </a:prstGeom>
          <a:noFill/>
          <a:ln w="17780">
            <a:solidFill>
              <a:srgbClr val="AAB1BC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7863840" y="2468880"/>
            <a:ext cx="1572768" cy="329184"/>
          </a:xfrm>
          <a:prstGeom prst="line">
            <a:avLst/>
          </a:prstGeom>
          <a:noFill/>
          <a:ln w="17780">
            <a:solidFill>
              <a:srgbClr val="AAB1BC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8412480" y="2743200"/>
            <a:ext cx="-91440" cy="804672"/>
          </a:xfrm>
          <a:prstGeom prst="line">
            <a:avLst/>
          </a:prstGeom>
          <a:noFill/>
          <a:ln w="17780">
            <a:solidFill>
              <a:srgbClr val="AAB1BC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6510528" y="987552"/>
            <a:ext cx="10241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0528" y="987552"/>
            <a:ext cx="1024128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知识治理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Wiki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933688" y="1033272"/>
            <a:ext cx="10241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33688" y="1033272"/>
            <a:ext cx="1024128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15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混合检索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15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31152" y="2103120"/>
            <a:ext cx="10241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138A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31152" y="2103120"/>
            <a:ext cx="1024128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8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代码智能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38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345168" y="2359152"/>
            <a:ext cx="10241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45168" y="2359152"/>
            <a:ext cx="1024128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关系建模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708392" y="3511296"/>
            <a:ext cx="10241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657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08392" y="3511296"/>
            <a:ext cx="1024128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5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接入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5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/ Skills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211312" y="1847088"/>
            <a:ext cx="621792" cy="62179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11312" y="1847088"/>
            <a:ext cx="621792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C/C++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" y="5989320"/>
            <a:ext cx="45720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知识库方案预览 · 业界洞察 / 技术方法 / 落地路径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182880"/>
            <a:ext cx="114757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案例一：OpenHands｜分层知识与渐进式披露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9184" y="576072"/>
            <a:ext cx="36576" cy="23774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76072"/>
            <a:ext cx="11475720" cy="23774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576072"/>
            <a:ext cx="112928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结论：用“常驻契约 + 条件触发 + 按需展开”控制上下文规模，让 Agent 知道知识在哪里。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" y="6547104"/>
            <a:ext cx="1152144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329184" y="6583680"/>
            <a:ext cx="457200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第一部分｜业界知识库应用洞察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33856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11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329184" y="914400"/>
            <a:ext cx="5897880" cy="5440680"/>
          </a:xfrm>
          <a:prstGeom prst="roundRect">
            <a:avLst>
              <a:gd name="adj" fmla="val 100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10332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033272"/>
            <a:ext cx="31089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77824" y="1005840"/>
            <a:ext cx="25603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OpenHands 的知识分层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77824" y="1261872"/>
            <a:ext cx="32004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软件工程 Agent · 仓库级 Skills 体系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1572768"/>
            <a:ext cx="5559552" cy="749808"/>
          </a:xfrm>
          <a:prstGeom prst="roundRect">
            <a:avLst>
              <a:gd name="adj" fmla="val 7317"/>
            </a:avLst>
          </a:prstGeom>
          <a:solidFill>
            <a:srgbClr val="FCE8E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1572768"/>
            <a:ext cx="41148" cy="74980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" y="1645920"/>
            <a:ext cx="53309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AGENTS.md｜Always-on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" y="1929384"/>
            <a:ext cx="53035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仓库目的、目录结构、构建测试、全局约束；每轮都需要，但必须精简。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02920" y="2450592"/>
            <a:ext cx="5559552" cy="749808"/>
          </a:xfrm>
          <a:prstGeom prst="roundRect">
            <a:avLst>
              <a:gd name="adj" fmla="val 7317"/>
            </a:avLst>
          </a:prstGeom>
          <a:solidFill>
            <a:srgbClr val="EEF3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450592"/>
            <a:ext cx="41148" cy="749808"/>
          </a:xfrm>
          <a:prstGeom prst="rect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2523744"/>
            <a:ext cx="53309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Path-triggered Rules｜路径触发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" y="2807208"/>
            <a:ext cx="53035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进入 API、前端或迁移目录时，自动补充局部规则。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502920" y="3328416"/>
            <a:ext cx="5559552" cy="749808"/>
          </a:xfrm>
          <a:prstGeom prst="roundRect">
            <a:avLst>
              <a:gd name="adj" fmla="val 7317"/>
            </a:avLst>
          </a:prstGeom>
          <a:solidFill>
            <a:srgbClr val="EAF7F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328416"/>
            <a:ext cx="41148" cy="749808"/>
          </a:xfrm>
          <a:prstGeom prst="rect">
            <a:avLst/>
          </a:prstGeom>
          <a:solidFill>
            <a:srgbClr val="138A52"/>
          </a:solidFill>
          <a:ln w="12700">
            <a:solidFill>
              <a:srgbClr val="138A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" y="3401568"/>
            <a:ext cx="53309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Keyword-triggered Skills｜任务触发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" y="3685032"/>
            <a:ext cx="53035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发布、模型接入、数据库迁移等任务出现时才加载专业流程。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502920" y="4206240"/>
            <a:ext cx="5559552" cy="749808"/>
          </a:xfrm>
          <a:prstGeom prst="roundRect">
            <a:avLst>
              <a:gd name="adj" fmla="val 7317"/>
            </a:avLst>
          </a:prstGeom>
          <a:solidFill>
            <a:srgbClr val="FFF4E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206240"/>
            <a:ext cx="41148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" y="4279392"/>
            <a:ext cx="53309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Progressive Disclosure｜渐进披露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9224" y="4562856"/>
            <a:ext cx="53035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初始仅展示 Skill 名称和描述，Agent 判断相关后再读取完整内容。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502920" y="5193792"/>
            <a:ext cx="5559552" cy="502920"/>
          </a:xfrm>
          <a:prstGeom prst="roundRect">
            <a:avLst>
              <a:gd name="adj" fmla="val 10909"/>
            </a:avLst>
          </a:prstGeom>
          <a:solidFill>
            <a:srgbClr val="FFF9E9"/>
          </a:solidFill>
          <a:ln w="12700">
            <a:solidFill>
              <a:srgbClr val="E9D2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" y="5321808"/>
            <a:ext cx="65836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00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关键机制：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1280160" y="5321808"/>
            <a:ext cx="45720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知识被组织成可发现的能力目录，减少无关规则造成的注意力稀释。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6492240" y="932688"/>
            <a:ext cx="2743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上下文加载漏斗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 rot="5400000">
            <a:off x="6629400" y="1353312"/>
            <a:ext cx="4617720" cy="566928"/>
          </a:xfrm>
          <a:prstGeom prst="chevron">
            <a:avLst/>
          </a:prstGeom>
          <a:solidFill>
            <a:srgbClr val="FCE8E8"/>
          </a:solidFill>
          <a:ln w="12700">
            <a:solidFill>
              <a:srgbClr val="FCE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0" y="1481328"/>
            <a:ext cx="39776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仓库全部知识｜文档、代码、Skills、历史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 rot="5400000">
            <a:off x="6967728" y="2057400"/>
            <a:ext cx="3941064" cy="566928"/>
          </a:xfrm>
          <a:prstGeom prst="chevron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87768" y="2185416"/>
            <a:ext cx="3300984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AGENTS.md｜稳定且常用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 rot="5400000">
            <a:off x="7315200" y="2761488"/>
            <a:ext cx="3246120" cy="566928"/>
          </a:xfrm>
          <a:prstGeom prst="chevron">
            <a:avLst/>
          </a:prstGeom>
          <a:solidFill>
            <a:srgbClr val="EAF7F0"/>
          </a:solidFill>
          <a:ln w="12700">
            <a:solidFill>
              <a:srgbClr val="EAF7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35240" y="2889504"/>
            <a:ext cx="26060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 / 关键词匹配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 rot="5400000">
            <a:off x="7708392" y="3465576"/>
            <a:ext cx="2468880" cy="566928"/>
          </a:xfrm>
          <a:prstGeom prst="chevron">
            <a:avLst/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28432" y="3593592"/>
            <a:ext cx="18288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 Context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8293608" y="4169664"/>
            <a:ext cx="1298448" cy="329184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93608" y="4169664"/>
            <a:ext cx="1298448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执行任务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92240" y="4800600"/>
            <a:ext cx="521208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92240" y="4800600"/>
            <a:ext cx="41148" cy="1078992"/>
          </a:xfrm>
          <a:prstGeom prst="rect">
            <a:avLst/>
          </a:prstGeom>
          <a:solidFill>
            <a:srgbClr val="657080"/>
          </a:solidFill>
          <a:ln w="12700">
            <a:solidFill>
              <a:srgbClr val="6570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38544" y="4873752"/>
            <a:ext cx="49834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对大型 C/C++ 项目的借鉴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638544" y="5157216"/>
            <a:ext cx="4956048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为实时线程、协议变更、平台适配、性能分析建立独立 Skill；按目标路径和任务类型加载。</a:t>
            </a:r>
            <a:endParaRPr lang="en-US" sz="9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182880"/>
            <a:ext cx="114757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案例二：Cline｜规则分片与知识路由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9184" y="576072"/>
            <a:ext cx="36576" cy="23774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76072"/>
            <a:ext cx="11475720" cy="23774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576072"/>
            <a:ext cx="112928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结论：AGENTS.md 不应成为百科全书，而应告诉 Agent“当前改动属于哪里、该读什么、如何验证”。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" y="6547104"/>
            <a:ext cx="1152144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329184" y="6583680"/>
            <a:ext cx="457200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第一部分｜业界知识库应用洞察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33856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11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329184" y="914400"/>
            <a:ext cx="5303520" cy="5440680"/>
          </a:xfrm>
          <a:prstGeom prst="roundRect">
            <a:avLst>
              <a:gd name="adj" fmla="val 103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10332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033272"/>
            <a:ext cx="31089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77824" y="1005840"/>
            <a:ext cx="25603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Agent 的知识路由表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77824" y="1261872"/>
            <a:ext cx="32004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不同类型知识各归其位，避免重复与冲突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1572768"/>
            <a:ext cx="4956048" cy="420624"/>
          </a:xfrm>
          <a:prstGeom prst="roundRect">
            <a:avLst>
              <a:gd name="adj" fmla="val 13043"/>
            </a:avLst>
          </a:prstGeom>
          <a:solidFill>
            <a:srgbClr val="FCE8E8"/>
          </a:solidFill>
          <a:ln w="12700">
            <a:solidFill>
              <a:srgbClr val="D99A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72768"/>
            <a:ext cx="4956048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AGENTS.md｜包边界、依赖规则、修改路由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52928" y="2039112"/>
            <a:ext cx="0" cy="256032"/>
          </a:xfrm>
          <a:prstGeom prst="line">
            <a:avLst/>
          </a:prstGeom>
          <a:noFill/>
          <a:ln w="1651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2920" y="2331720"/>
            <a:ext cx="1508760" cy="1005840"/>
          </a:xfrm>
          <a:prstGeom prst="roundRect">
            <a:avLst>
              <a:gd name="adj" fmla="val 5455"/>
            </a:avLst>
          </a:prstGeom>
          <a:solidFill>
            <a:srgbClr val="EEF3FF"/>
          </a:solidFill>
          <a:ln w="12700">
            <a:solidFill>
              <a:srgbClr val="AABB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2404872"/>
            <a:ext cx="136245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CONTRIBUTING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576072" y="2642616"/>
            <a:ext cx="1362456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贡献流程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12848" y="2331720"/>
            <a:ext cx="1508760" cy="1005840"/>
          </a:xfrm>
          <a:prstGeom prst="roundRect">
            <a:avLst>
              <a:gd name="adj" fmla="val 5455"/>
            </a:avLst>
          </a:prstGeom>
          <a:solidFill>
            <a:srgbClr val="EAF7F0"/>
          </a:solidFill>
          <a:ln w="12700">
            <a:solidFill>
              <a:srgbClr val="9CCF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0" y="2404872"/>
            <a:ext cx="136245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2286000" y="2642616"/>
            <a:ext cx="1362456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运行流程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设计约束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931920" y="2331720"/>
            <a:ext cx="1508760" cy="1005840"/>
          </a:xfrm>
          <a:prstGeom prst="roundRect">
            <a:avLst>
              <a:gd name="adj" fmla="val 5455"/>
            </a:avLst>
          </a:prstGeom>
          <a:solidFill>
            <a:srgbClr val="FFF4E5"/>
          </a:solidFill>
          <a:ln w="12700">
            <a:solidFill>
              <a:srgbClr val="E5BE8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05072" y="2404872"/>
            <a:ext cx="136245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4005072" y="2642616"/>
            <a:ext cx="1362456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生命周期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行为语义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852928" y="3419856"/>
            <a:ext cx="0" cy="256032"/>
          </a:xfrm>
          <a:prstGeom prst="line">
            <a:avLst/>
          </a:prstGeom>
          <a:noFill/>
          <a:ln w="1651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02920" y="3730752"/>
            <a:ext cx="4956048" cy="420624"/>
          </a:xfrm>
          <a:prstGeom prst="roundRect">
            <a:avLst>
              <a:gd name="adj" fmla="val 13043"/>
            </a:avLst>
          </a:prstGeom>
          <a:solidFill>
            <a:srgbClr val="EEF3FF"/>
          </a:solidFill>
          <a:ln w="12700">
            <a:solidFill>
              <a:srgbClr val="AABB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730752"/>
            <a:ext cx="4956048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.clinerules/｜coding · testing · architecture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852928" y="4197096"/>
            <a:ext cx="0" cy="256032"/>
          </a:xfrm>
          <a:prstGeom prst="line">
            <a:avLst/>
          </a:prstGeom>
          <a:noFill/>
          <a:ln w="1651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02920" y="4517136"/>
            <a:ext cx="4956048" cy="420624"/>
          </a:xfrm>
          <a:prstGeom prst="roundRect">
            <a:avLst>
              <a:gd name="adj" fmla="val 13043"/>
            </a:avLst>
          </a:prstGeom>
          <a:solidFill>
            <a:srgbClr val="EAF7F0"/>
          </a:solidFill>
          <a:ln w="12700">
            <a:solidFill>
              <a:srgbClr val="9CCF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517136"/>
            <a:ext cx="4956048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条件激活｜打开文件 · 提及路径 · 编辑范围 · 任务类型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806440" y="914400"/>
            <a:ext cx="2788920" cy="2359152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16168" y="1024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16168" y="1024128"/>
            <a:ext cx="31089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18504" y="1005840"/>
            <a:ext cx="2167128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一类关注点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一个规则文件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34456" y="1362456"/>
            <a:ext cx="2532888" cy="1819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coding.md</a:t>
            </a:r>
            <a:endParaRPr lang="en-US" sz="920" dirty="0"/>
          </a:p>
          <a:p>
            <a:pPr algn="l" indent="0" marL="0">
              <a:buNone/>
            </a:pP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testing.md</a:t>
            </a:r>
            <a:endParaRPr lang="en-US" sz="920" dirty="0"/>
          </a:p>
          <a:p>
            <a:pPr algn="l" indent="0" marL="0">
              <a:buNone/>
            </a:pP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architecture.md</a:t>
            </a:r>
            <a:endParaRPr lang="en-US" sz="920" dirty="0"/>
          </a:p>
          <a:p>
            <a:pPr algn="l" indent="0" marL="0">
              <a:buNone/>
            </a:pP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可独立启停、评审和演进。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8759952" y="914400"/>
            <a:ext cx="3090672" cy="2359152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869680" y="1024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38A52"/>
          </a:solidFill>
          <a:ln w="12700">
            <a:solidFill>
              <a:srgbClr val="138A5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69680" y="1024128"/>
            <a:ext cx="31089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272016" y="1005840"/>
            <a:ext cx="246888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把“说明”与“强制”分开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887968" y="1362456"/>
            <a:ext cx="2834640" cy="1819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规则解释应该怎么做；Hook、lint、test 验证是否做到。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9034272" y="2514600"/>
            <a:ext cx="2423160" cy="347472"/>
          </a:xfrm>
          <a:prstGeom prst="roundRect">
            <a:avLst>
              <a:gd name="adj" fmla="val 15789"/>
            </a:avLst>
          </a:prstGeom>
          <a:solidFill>
            <a:srgbClr val="FFF9E9"/>
          </a:solidFill>
          <a:ln w="12700">
            <a:solidFill>
              <a:srgbClr val="E9D2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34272" y="2514600"/>
            <a:ext cx="24231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≠ Policy Engine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806440" y="3456432"/>
            <a:ext cx="6044184" cy="2898648"/>
          </a:xfrm>
          <a:prstGeom prst="roundRect">
            <a:avLst>
              <a:gd name="adj" fmla="val 189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89320" y="3566160"/>
            <a:ext cx="219456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C/C++ 仓库映射示例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989320" y="4041648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FCE8E8"/>
          </a:solidFill>
          <a:ln w="12700">
            <a:solidFill>
              <a:srgbClr val="D99A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14800"/>
            <a:ext cx="145389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 AGENTS</a:t>
            </a:r>
            <a:endParaRPr lang="en-US" sz="1020" dirty="0"/>
          </a:p>
        </p:txBody>
      </p:sp>
      <p:sp>
        <p:nvSpPr>
          <p:cNvPr id="48" name="Text 46"/>
          <p:cNvSpPr/>
          <p:nvPr/>
        </p:nvSpPr>
        <p:spPr>
          <a:xfrm>
            <a:off x="6062472" y="4352544"/>
            <a:ext cx="1453896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构建入口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顶层边界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699248" y="4535424"/>
            <a:ext cx="256032" cy="0"/>
          </a:xfrm>
          <a:prstGeom prst="line">
            <a:avLst/>
          </a:prstGeom>
          <a:noFill/>
          <a:ln w="1651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8065008" y="4041648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EEF3FF"/>
          </a:solidFill>
          <a:ln w="12700">
            <a:solidFill>
              <a:srgbClr val="AABB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38160" y="4114800"/>
            <a:ext cx="145389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模块规则</a:t>
            </a:r>
            <a:endParaRPr lang="en-US" sz="1020" dirty="0"/>
          </a:p>
        </p:txBody>
      </p:sp>
      <p:sp>
        <p:nvSpPr>
          <p:cNvPr id="52" name="Text 50"/>
          <p:cNvSpPr/>
          <p:nvPr/>
        </p:nvSpPr>
        <p:spPr>
          <a:xfrm>
            <a:off x="8138160" y="4352544"/>
            <a:ext cx="1453896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线程模型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ABI / API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9784080" y="4535424"/>
            <a:ext cx="256032" cy="0"/>
          </a:xfrm>
          <a:prstGeom prst="line">
            <a:avLst/>
          </a:prstGeom>
          <a:noFill/>
          <a:ln w="1651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10131552" y="4041648"/>
            <a:ext cx="1508760" cy="1005840"/>
          </a:xfrm>
          <a:prstGeom prst="roundRect">
            <a:avLst>
              <a:gd name="adj" fmla="val 5455"/>
            </a:avLst>
          </a:prstGeom>
          <a:solidFill>
            <a:srgbClr val="EAF7F0"/>
          </a:solidFill>
          <a:ln w="12700">
            <a:solidFill>
              <a:srgbClr val="9CCFB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204704" y="4114800"/>
            <a:ext cx="136245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验证工具</a:t>
            </a:r>
            <a:endParaRPr lang="en-US" sz="1020" dirty="0"/>
          </a:p>
        </p:txBody>
      </p:sp>
      <p:sp>
        <p:nvSpPr>
          <p:cNvPr id="56" name="Text 54"/>
          <p:cNvSpPr/>
          <p:nvPr/>
        </p:nvSpPr>
        <p:spPr>
          <a:xfrm>
            <a:off x="10204704" y="4352544"/>
            <a:ext cx="1362456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clang-tidy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tests / sanitizer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989320" y="5321808"/>
            <a:ext cx="4572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0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419088" y="5321808"/>
            <a:ext cx="49834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根文件只做知识索引；详细约束与目标代码目录共置。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182880"/>
            <a:ext cx="114757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案例三：Dify｜根规则路由 + 子系统自治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9184" y="576072"/>
            <a:ext cx="36576" cy="23774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76072"/>
            <a:ext cx="11475720" cy="23774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576072"/>
            <a:ext cx="112928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结论：大型 Monorepo 通过“全局最小规则 + 子目录专业规则”，让不同技术栈共享原则、保留局部自治。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" y="6547104"/>
            <a:ext cx="1152144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329184" y="6583680"/>
            <a:ext cx="457200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第一部分｜业界知识库应用洞察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33856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11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329184" y="1325880"/>
            <a:ext cx="2148840" cy="242316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" y="1325880"/>
            <a:ext cx="2148840" cy="36576"/>
          </a:xfrm>
          <a:prstGeom prst="rect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143560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435608"/>
            <a:ext cx="31089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1248" y="1417320"/>
            <a:ext cx="1527048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api/AGENTS.md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1773936"/>
            <a:ext cx="1892808" cy="18836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Python / Flask / DDD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后端命令与依赖管理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pytest 与测试结构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类型、异步任务和迁移约束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2724912" y="2487168"/>
            <a:ext cx="-228600" cy="0"/>
          </a:xfrm>
          <a:prstGeom prst="line">
            <a:avLst/>
          </a:prstGeom>
          <a:noFill/>
          <a:ln w="1651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907792" y="1097280"/>
            <a:ext cx="6373368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63240" y="12618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63240" y="1261872"/>
            <a:ext cx="31089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1225296"/>
            <a:ext cx="18288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 AGENTS.md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1481328"/>
            <a:ext cx="2743200" cy="1554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统一入口 / 全局契约 / 子系统路由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063240" y="1828800"/>
            <a:ext cx="2697480" cy="749808"/>
          </a:xfrm>
          <a:prstGeom prst="roundRect">
            <a:avLst>
              <a:gd name="adj" fmla="val 7317"/>
            </a:avLst>
          </a:prstGeom>
          <a:solidFill>
            <a:srgbClr val="FCE8E8"/>
          </a:solidFill>
          <a:ln w="12700">
            <a:solidFill>
              <a:srgbClr val="D99A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36392" y="1901952"/>
            <a:ext cx="255117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系统地图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3136392" y="2139696"/>
            <a:ext cx="2551176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· Web · Docker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016752" y="1828800"/>
            <a:ext cx="2999232" cy="749808"/>
          </a:xfrm>
          <a:prstGeom prst="roundRect">
            <a:avLst>
              <a:gd name="adj" fmla="val 7317"/>
            </a:avLst>
          </a:prstGeom>
          <a:solidFill>
            <a:srgbClr val="EEF3FF"/>
          </a:solidFill>
          <a:ln w="12700">
            <a:solidFill>
              <a:srgbClr val="AABB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9904" y="1901952"/>
            <a:ext cx="285292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工程原则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6089904" y="2139696"/>
            <a:ext cx="285292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DDD · Clean Architecture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063240" y="2715768"/>
            <a:ext cx="2697480" cy="749808"/>
          </a:xfrm>
          <a:prstGeom prst="roundRect">
            <a:avLst>
              <a:gd name="adj" fmla="val 7317"/>
            </a:avLst>
          </a:prstGeom>
          <a:solidFill>
            <a:srgbClr val="EAF7F0"/>
          </a:solidFill>
          <a:ln w="12700">
            <a:solidFill>
              <a:srgbClr val="9CCF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36392" y="2788920"/>
            <a:ext cx="255117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质量要求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3136392" y="3026664"/>
            <a:ext cx="2551176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TDD · 强类型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16752" y="2715768"/>
            <a:ext cx="2999232" cy="749808"/>
          </a:xfrm>
          <a:prstGeom prst="roundRect">
            <a:avLst>
              <a:gd name="adj" fmla="val 7317"/>
            </a:avLst>
          </a:prstGeom>
          <a:solidFill>
            <a:srgbClr val="FFF4E5"/>
          </a:solidFill>
          <a:ln w="12700">
            <a:solidFill>
              <a:srgbClr val="E5BE8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9904" y="2788920"/>
            <a:ext cx="285292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知识路由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6089904" y="3026664"/>
            <a:ext cx="285292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继续读取子目录规则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886200" y="3675888"/>
            <a:ext cx="43891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同一事实只维护一处，Agent 按修改范围逐层获取。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537192" y="2487168"/>
            <a:ext cx="256032" cy="0"/>
          </a:xfrm>
          <a:prstGeom prst="line">
            <a:avLst/>
          </a:prstGeom>
          <a:noFill/>
          <a:ln w="1651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710928" y="1325880"/>
            <a:ext cx="2148840" cy="242316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710928" y="1325880"/>
            <a:ext cx="2148840" cy="36576"/>
          </a:xfrm>
          <a:prstGeom prst="rect">
            <a:avLst/>
          </a:prstGeom>
          <a:solidFill>
            <a:srgbClr val="138A52"/>
          </a:solidFill>
          <a:ln w="12700">
            <a:solidFill>
              <a:srgbClr val="138A5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820656" y="143560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38A52"/>
          </a:solidFill>
          <a:ln w="12700">
            <a:solidFill>
              <a:srgbClr val="138A5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20656" y="1435608"/>
            <a:ext cx="31089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222992" y="1417320"/>
            <a:ext cx="1527048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web/AGENTS.md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838944" y="1773936"/>
            <a:ext cx="1892808" cy="18836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Next.js / TypeScript / React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前端依赖与测试命令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组件和类型约束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国际化与 UI 规范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329184" y="4343400"/>
            <a:ext cx="36118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9184" y="4343400"/>
            <a:ext cx="41148" cy="12344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" y="4416552"/>
            <a:ext cx="33832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知识贴近代码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75488" y="4700016"/>
            <a:ext cx="3355848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规则与子系统共同演进，版本、评审和责任边界一致。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502920" y="45079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4507992"/>
            <a:ext cx="31089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133088" y="4343400"/>
            <a:ext cx="36118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33088" y="4343400"/>
            <a:ext cx="41148" cy="1234440"/>
          </a:xfrm>
          <a:prstGeom prst="rect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79392" y="4416552"/>
            <a:ext cx="33832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上下文按需继承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279392" y="4700016"/>
            <a:ext cx="3355848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全局规则向下生效，局部规则只影响对应目录。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4306824" y="45079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06824" y="4507992"/>
            <a:ext cx="31089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↳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936992" y="4343400"/>
            <a:ext cx="392277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936992" y="4343400"/>
            <a:ext cx="41148" cy="1234440"/>
          </a:xfrm>
          <a:prstGeom prst="rect">
            <a:avLst/>
          </a:prstGeom>
          <a:solidFill>
            <a:srgbClr val="138A52"/>
          </a:solidFill>
          <a:ln w="12700">
            <a:solidFill>
              <a:srgbClr val="138A5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83296" y="4416552"/>
            <a:ext cx="36941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适配大型工程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083296" y="4700016"/>
            <a:ext cx="3666744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network / storage / runtime / platform 分别维护专业知识。</a:t>
            </a:r>
            <a:endParaRPr lang="en-US" sz="920" dirty="0"/>
          </a:p>
        </p:txBody>
      </p:sp>
      <p:sp>
        <p:nvSpPr>
          <p:cNvPr id="57" name="Shape 55"/>
          <p:cNvSpPr/>
          <p:nvPr/>
        </p:nvSpPr>
        <p:spPr>
          <a:xfrm>
            <a:off x="8110728" y="45079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38A52"/>
          </a:solidFill>
          <a:ln w="12700">
            <a:solidFill>
              <a:srgbClr val="138A5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10728" y="4507992"/>
            <a:ext cx="31089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182880"/>
            <a:ext cx="114757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方法一：LLM Wiki｜把原始资料“编译”为可复用知识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9184" y="576072"/>
            <a:ext cx="36576" cy="23774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76072"/>
            <a:ext cx="11475720" cy="23774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576072"/>
            <a:ext cx="112928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定位：知识生产与治理方法；核心价值不是搜索，而是让知识可读、可审阅、可追溯、持续积累。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" y="6547104"/>
            <a:ext cx="1152144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329184" y="6583680"/>
            <a:ext cx="457200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第二部分｜业界知识库方法论及技术洞察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33856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11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329184" y="1005840"/>
            <a:ext cx="1051560" cy="841248"/>
          </a:xfrm>
          <a:prstGeom prst="roundRect">
            <a:avLst>
              <a:gd name="adj" fmla="val 6522"/>
            </a:avLst>
          </a:prstGeom>
          <a:solidFill>
            <a:srgbClr val="FCE8E8"/>
          </a:solidFill>
          <a:ln w="12700">
            <a:solidFill>
              <a:srgbClr val="D99A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078992"/>
            <a:ext cx="90525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原始来源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402336" y="1316736"/>
            <a:ext cx="90525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 · PR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 · Spec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453896" y="1417320"/>
            <a:ext cx="237744" cy="0"/>
          </a:xfrm>
          <a:prstGeom prst="line">
            <a:avLst/>
          </a:prstGeom>
          <a:noFill/>
          <a:ln w="1651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810512" y="1005840"/>
            <a:ext cx="1051560" cy="841248"/>
          </a:xfrm>
          <a:prstGeom prst="roundRect">
            <a:avLst>
              <a:gd name="adj" fmla="val 6522"/>
            </a:avLst>
          </a:prstGeom>
          <a:solidFill>
            <a:srgbClr val="EEF3FF"/>
          </a:solidFill>
          <a:ln w="12700">
            <a:solidFill>
              <a:srgbClr val="AABB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83664" y="1078992"/>
            <a:ext cx="90525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编译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1883664" y="1316736"/>
            <a:ext cx="90525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摘要 · 消歧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冲突识别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935224" y="1417320"/>
            <a:ext cx="237744" cy="0"/>
          </a:xfrm>
          <a:prstGeom prst="line">
            <a:avLst/>
          </a:prstGeom>
          <a:noFill/>
          <a:ln w="1651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291840" y="1005840"/>
            <a:ext cx="1051560" cy="841248"/>
          </a:xfrm>
          <a:prstGeom prst="roundRect">
            <a:avLst>
              <a:gd name="adj" fmla="val 6522"/>
            </a:avLst>
          </a:prstGeom>
          <a:solidFill>
            <a:srgbClr val="EAF7F0"/>
          </a:solidFill>
          <a:ln w="12700">
            <a:solidFill>
              <a:srgbClr val="9CCF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1078992"/>
            <a:ext cx="90525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 页面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3364992" y="1316736"/>
            <a:ext cx="90525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 · 实体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 · 比较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416552" y="1417320"/>
            <a:ext cx="237744" cy="0"/>
          </a:xfrm>
          <a:prstGeom prst="line">
            <a:avLst/>
          </a:prstGeom>
          <a:noFill/>
          <a:ln w="1651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773168" y="1005840"/>
            <a:ext cx="1051560" cy="841248"/>
          </a:xfrm>
          <a:prstGeom prst="roundRect">
            <a:avLst>
              <a:gd name="adj" fmla="val 6522"/>
            </a:avLst>
          </a:prstGeom>
          <a:solidFill>
            <a:srgbClr val="FFF4E5"/>
          </a:solidFill>
          <a:ln w="12700">
            <a:solidFill>
              <a:srgbClr val="E5BE8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078992"/>
            <a:ext cx="90525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交叉链接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4846320" y="1316736"/>
            <a:ext cx="90525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· 相关项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影响关系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897880" y="1417320"/>
            <a:ext cx="237744" cy="0"/>
          </a:xfrm>
          <a:prstGeom prst="line">
            <a:avLst/>
          </a:prstGeom>
          <a:noFill/>
          <a:ln w="1651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254496" y="1005840"/>
            <a:ext cx="1051560" cy="841248"/>
          </a:xfrm>
          <a:prstGeom prst="roundRect">
            <a:avLst>
              <a:gd name="adj" fmla="val 6522"/>
            </a:avLst>
          </a:prstGeom>
          <a:solidFill>
            <a:srgbClr val="FCE8E8"/>
          </a:solidFill>
          <a:ln w="12700">
            <a:solidFill>
              <a:srgbClr val="D99A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1078992"/>
            <a:ext cx="90525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使用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6327648" y="1316736"/>
            <a:ext cx="90525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 · 检索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 Pack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9184" y="2084832"/>
            <a:ext cx="69951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2194560"/>
            <a:ext cx="18288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三层知识结构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8368" y="2532888"/>
            <a:ext cx="6355080" cy="292608"/>
          </a:xfrm>
          <a:prstGeom prst="roundRect">
            <a:avLst>
              <a:gd name="adj" fmla="val 18750"/>
            </a:avLst>
          </a:prstGeom>
          <a:solidFill>
            <a:srgbClr val="FCE8E8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2532888"/>
            <a:ext cx="1463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 Sources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377440" y="2532888"/>
            <a:ext cx="4434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人维护、不可变；真正的事实和证据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58368" y="2926080"/>
            <a:ext cx="6355080" cy="292608"/>
          </a:xfrm>
          <a:prstGeom prst="roundRect">
            <a:avLst>
              <a:gd name="adj" fmla="val 18750"/>
            </a:avLst>
          </a:prstGeom>
          <a:solidFill>
            <a:srgbClr val="EEF3FF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2926080"/>
            <a:ext cx="1463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Wiki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377440" y="2926080"/>
            <a:ext cx="4434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维护的摘要、主题页、交叉引用与冲突标记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58368" y="3319272"/>
            <a:ext cx="6355080" cy="292608"/>
          </a:xfrm>
          <a:prstGeom prst="roundRect">
            <a:avLst>
              <a:gd name="adj" fmla="val 18750"/>
            </a:avLst>
          </a:prstGeom>
          <a:solidFill>
            <a:srgbClr val="EAF7F0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3319272"/>
            <a:ext cx="1463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/ Rules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377440" y="3319272"/>
            <a:ext cx="4434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页面结构、来源要求、更新与审核规则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9184" y="4261104"/>
            <a:ext cx="6995160" cy="457200"/>
          </a:xfrm>
          <a:prstGeom prst="roundRect">
            <a:avLst>
              <a:gd name="adj" fmla="val 12000"/>
            </a:avLst>
          </a:prstGeom>
          <a:solidFill>
            <a:srgbClr val="FFF9E9"/>
          </a:solidFill>
          <a:ln w="12700">
            <a:solidFill>
              <a:srgbClr val="E9D2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389120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00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原则：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960120" y="4389120"/>
            <a:ext cx="60807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 是派生知识，不覆盖原始事实；每个结论必须保留来源、状态与适用版本。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7543800" y="914400"/>
            <a:ext cx="4306824" cy="5440680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26680" y="10424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26680" y="1042416"/>
            <a:ext cx="31089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129016" y="1024128"/>
            <a:ext cx="18288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适用与边界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726680" y="1572768"/>
            <a:ext cx="914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8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726680" y="1828800"/>
            <a:ext cx="3749040" cy="1261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业务术语、架构说明、ADR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专家经验与故障复盘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模块 README 和设计背景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人和 Agent 共同浏览、审阅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726680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不擅长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726680" y="3410712"/>
            <a:ext cx="37490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精确调用链和继承关系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大规模实时 Top-K 检索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强制执行安全与编码规则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726680" y="4526280"/>
            <a:ext cx="10972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典型技术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726680" y="4873752"/>
            <a:ext cx="777240" cy="201168"/>
          </a:xfrm>
          <a:prstGeom prst="roundRect">
            <a:avLst>
              <a:gd name="adj" fmla="val 27273"/>
            </a:avLst>
          </a:prstGeom>
          <a:solidFill>
            <a:srgbClr val="FCE8E8"/>
          </a:solidFill>
          <a:ln w="12700">
            <a:solidFill>
              <a:srgbClr val="FCE8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26680" y="4873752"/>
            <a:ext cx="7772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</a:t>
            </a:r>
            <a:endParaRPr lang="en-US" sz="720" dirty="0"/>
          </a:p>
        </p:txBody>
      </p:sp>
      <p:sp>
        <p:nvSpPr>
          <p:cNvPr id="53" name="Shape 51"/>
          <p:cNvSpPr/>
          <p:nvPr/>
        </p:nvSpPr>
        <p:spPr>
          <a:xfrm>
            <a:off x="8577072" y="4873752"/>
            <a:ext cx="438912" cy="201168"/>
          </a:xfrm>
          <a:prstGeom prst="roundRect">
            <a:avLst>
              <a:gd name="adj" fmla="val 27273"/>
            </a:avLst>
          </a:prstGeom>
          <a:solidFill>
            <a:srgbClr val="FCE8E8"/>
          </a:solidFill>
          <a:ln w="12700">
            <a:solidFill>
              <a:srgbClr val="FCE8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77072" y="4873752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</a:t>
            </a:r>
            <a:endParaRPr lang="en-US" sz="720" dirty="0"/>
          </a:p>
        </p:txBody>
      </p:sp>
      <p:sp>
        <p:nvSpPr>
          <p:cNvPr id="55" name="Shape 53"/>
          <p:cNvSpPr/>
          <p:nvPr/>
        </p:nvSpPr>
        <p:spPr>
          <a:xfrm>
            <a:off x="9098280" y="4873752"/>
            <a:ext cx="749808" cy="201168"/>
          </a:xfrm>
          <a:prstGeom prst="roundRect">
            <a:avLst>
              <a:gd name="adj" fmla="val 27273"/>
            </a:avLst>
          </a:prstGeom>
          <a:solidFill>
            <a:srgbClr val="FCE8E8"/>
          </a:solidFill>
          <a:ln w="12700">
            <a:solidFill>
              <a:srgbClr val="FCE8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098280" y="4873752"/>
            <a:ext cx="749808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Obsidian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7726680" y="5212080"/>
            <a:ext cx="1508760" cy="201168"/>
          </a:xfrm>
          <a:prstGeom prst="roundRect">
            <a:avLst>
              <a:gd name="adj" fmla="val 27273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26680" y="5212080"/>
            <a:ext cx="15087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15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LLM Wiki</a:t>
            </a:r>
            <a:endParaRPr lang="en-US" sz="720" dirty="0"/>
          </a:p>
        </p:txBody>
      </p:sp>
      <p:sp>
        <p:nvSpPr>
          <p:cNvPr id="59" name="Shape 57"/>
          <p:cNvSpPr/>
          <p:nvPr/>
        </p:nvSpPr>
        <p:spPr>
          <a:xfrm>
            <a:off x="9345168" y="5212080"/>
            <a:ext cx="1417320" cy="201168"/>
          </a:xfrm>
          <a:prstGeom prst="roundRect">
            <a:avLst>
              <a:gd name="adj" fmla="val 27273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345168" y="5212080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15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llm-wiki-compiler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182880"/>
            <a:ext cx="114757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方法二：RAG 知识图谱｜从“相似内容”走向“关系路径”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9184" y="576072"/>
            <a:ext cx="36576" cy="23774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76072"/>
            <a:ext cx="11475720" cy="23774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576072"/>
            <a:ext cx="112928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定位：知识表示 + 图增强检索；适合依赖、影响、追踪和跨模块多跳问题，不等同于普通文档链接图。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" y="6547104"/>
            <a:ext cx="1152144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329184" y="6583680"/>
            <a:ext cx="457200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第二部分｜业界知识库方法论及技术洞察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33856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11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329184" y="914400"/>
            <a:ext cx="6309360" cy="5440680"/>
          </a:xfrm>
          <a:prstGeom prst="roundRect">
            <a:avLst>
              <a:gd name="adj" fmla="val 100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24128"/>
            <a:ext cx="23774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GraphRAG 检索过程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1417320"/>
            <a:ext cx="1591056" cy="841248"/>
          </a:xfrm>
          <a:prstGeom prst="roundRect">
            <a:avLst>
              <a:gd name="adj" fmla="val 6522"/>
            </a:avLst>
          </a:prstGeom>
          <a:solidFill>
            <a:srgbClr val="EEF3FF"/>
          </a:solidFill>
          <a:ln w="12700">
            <a:solidFill>
              <a:srgbClr val="AABB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1490472"/>
            <a:ext cx="14447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找入口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576072" y="1728216"/>
            <a:ext cx="144475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 / 全文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 Chunk / Entity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12848" y="1828800"/>
            <a:ext cx="256032" cy="0"/>
          </a:xfrm>
          <a:prstGeom prst="line">
            <a:avLst/>
          </a:prstGeom>
          <a:noFill/>
          <a:ln w="1651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587752" y="1417320"/>
            <a:ext cx="1682496" cy="841248"/>
          </a:xfrm>
          <a:prstGeom prst="roundRect">
            <a:avLst>
              <a:gd name="adj" fmla="val 6522"/>
            </a:avLst>
          </a:prstGeom>
          <a:solidFill>
            <a:srgbClr val="FFF4E5"/>
          </a:solidFill>
          <a:ln w="12700">
            <a:solidFill>
              <a:srgbClr val="E5BE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60904" y="1490472"/>
            <a:ext cx="153619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沿图扩展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2660904" y="1728216"/>
            <a:ext cx="153619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CALLS · DEPENDS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VERIFIES · CONSTRAINS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89120" y="1828800"/>
            <a:ext cx="256032" cy="0"/>
          </a:xfrm>
          <a:prstGeom prst="line">
            <a:avLst/>
          </a:prstGeom>
          <a:noFill/>
          <a:ln w="1651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754880" y="1417320"/>
            <a:ext cx="1600200" cy="841248"/>
          </a:xfrm>
          <a:prstGeom prst="roundRect">
            <a:avLst>
              <a:gd name="adj" fmla="val 6522"/>
            </a:avLst>
          </a:prstGeom>
          <a:solidFill>
            <a:srgbClr val="EAF7F0"/>
          </a:solidFill>
          <a:ln w="12700">
            <a:solidFill>
              <a:srgbClr val="9CCF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1490472"/>
            <a:ext cx="145389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组装证据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4828032" y="1728216"/>
            <a:ext cx="145389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 + 路径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 + 来源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737360" y="3063240"/>
            <a:ext cx="1078992" cy="118872"/>
          </a:xfrm>
          <a:prstGeom prst="line">
            <a:avLst/>
          </a:prstGeom>
          <a:noFill/>
          <a:ln w="17780">
            <a:solidFill>
              <a:srgbClr val="AAB1BC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600200" y="3364992"/>
            <a:ext cx="749808" cy="1344168"/>
          </a:xfrm>
          <a:prstGeom prst="line">
            <a:avLst/>
          </a:prstGeom>
          <a:noFill/>
          <a:ln w="17780">
            <a:solidFill>
              <a:srgbClr val="AAB1BC"/>
            </a:solidFill>
            <a:prstDash val="solid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737360" y="3255264"/>
            <a:ext cx="1417320" cy="1115568"/>
          </a:xfrm>
          <a:prstGeom prst="line">
            <a:avLst/>
          </a:prstGeom>
          <a:noFill/>
          <a:ln w="17780">
            <a:solidFill>
              <a:srgbClr val="AAB1BC"/>
            </a:solidFill>
            <a:prstDash val="solid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3822192" y="3429000"/>
            <a:ext cx="45720" cy="932688"/>
          </a:xfrm>
          <a:prstGeom prst="line">
            <a:avLst/>
          </a:prstGeom>
          <a:noFill/>
          <a:ln w="17780">
            <a:solidFill>
              <a:srgbClr val="AAB1BC"/>
            </a:solidFill>
            <a:prstDash val="solid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4041648" y="4645152"/>
            <a:ext cx="704088" cy="274320"/>
          </a:xfrm>
          <a:prstGeom prst="line">
            <a:avLst/>
          </a:prstGeom>
          <a:noFill/>
          <a:ln w="17780">
            <a:solidFill>
              <a:srgbClr val="AAB1BC"/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713232" y="2761488"/>
            <a:ext cx="10515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2761488"/>
            <a:ext cx="10515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Requirement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2807208" y="2852928"/>
            <a:ext cx="10515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07208" y="2852928"/>
            <a:ext cx="10515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315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1097280" y="4617720"/>
            <a:ext cx="10515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38A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7280" y="4617720"/>
            <a:ext cx="10515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38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ADR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3017520" y="4315968"/>
            <a:ext cx="10515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17520" y="4315968"/>
            <a:ext cx="10515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Function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4736592" y="4681728"/>
            <a:ext cx="10515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570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36592" y="4681728"/>
            <a:ext cx="10515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65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</a:t>
            </a:r>
            <a:endParaRPr lang="en-US" sz="930" dirty="0"/>
          </a:p>
        </p:txBody>
      </p:sp>
      <p:sp>
        <p:nvSpPr>
          <p:cNvPr id="37" name="Text 35"/>
          <p:cNvSpPr/>
          <p:nvPr/>
        </p:nvSpPr>
        <p:spPr>
          <a:xfrm>
            <a:off x="1965960" y="2907792"/>
            <a:ext cx="658368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OWNED_BY</a:t>
            </a:r>
            <a:endParaRPr lang="en-US" sz="630" dirty="0"/>
          </a:p>
        </p:txBody>
      </p:sp>
      <p:sp>
        <p:nvSpPr>
          <p:cNvPr id="38" name="Text 36"/>
          <p:cNvSpPr/>
          <p:nvPr/>
        </p:nvSpPr>
        <p:spPr>
          <a:xfrm>
            <a:off x="1618488" y="4041648"/>
            <a:ext cx="749808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CONSTRAINS</a:t>
            </a:r>
            <a:endParaRPr lang="en-US" sz="630" dirty="0"/>
          </a:p>
        </p:txBody>
      </p:sp>
      <p:sp>
        <p:nvSpPr>
          <p:cNvPr id="39" name="Text 37"/>
          <p:cNvSpPr/>
          <p:nvPr/>
        </p:nvSpPr>
        <p:spPr>
          <a:xfrm>
            <a:off x="3566160" y="3840480"/>
            <a:ext cx="5943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DEFINES</a:t>
            </a:r>
            <a:endParaRPr lang="en-US" sz="630" dirty="0"/>
          </a:p>
        </p:txBody>
      </p:sp>
      <p:sp>
        <p:nvSpPr>
          <p:cNvPr id="40" name="Text 38"/>
          <p:cNvSpPr/>
          <p:nvPr/>
        </p:nvSpPr>
        <p:spPr>
          <a:xfrm>
            <a:off x="4169664" y="4590288"/>
            <a:ext cx="713232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VERIFIED_BY</a:t>
            </a:r>
            <a:endParaRPr lang="en-US" sz="630" dirty="0"/>
          </a:p>
        </p:txBody>
      </p:sp>
      <p:sp>
        <p:nvSpPr>
          <p:cNvPr id="41" name="Shape 39"/>
          <p:cNvSpPr/>
          <p:nvPr/>
        </p:nvSpPr>
        <p:spPr>
          <a:xfrm>
            <a:off x="6830568" y="914400"/>
            <a:ext cx="2395728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40296" y="1024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0296" y="1024128"/>
            <a:ext cx="31089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N4J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342632" y="1005840"/>
            <a:ext cx="1773936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Neo4j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958584" y="1362456"/>
            <a:ext cx="2139696" cy="6309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属性图数据库；Cypher 查询、多跳遍历、图算法，也支持全文和向量索引。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9400032" y="914400"/>
            <a:ext cx="2450592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509760" y="1024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509760" y="1024128"/>
            <a:ext cx="31089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912096" y="1005840"/>
            <a:ext cx="182880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GraphRAG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528048" y="1362456"/>
            <a:ext cx="2194560" cy="6309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将向量/全文召回与图遍历组合，扩展相似片段背后的关系上下文。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6830568" y="2304288"/>
            <a:ext cx="5020056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22592" y="2423160"/>
            <a:ext cx="2194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C/C++ 高价值关系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022592" y="2834640"/>
            <a:ext cx="1298448" cy="201168"/>
          </a:xfrm>
          <a:prstGeom prst="roundRect">
            <a:avLst>
              <a:gd name="adj" fmla="val 27273"/>
            </a:avLst>
          </a:prstGeom>
          <a:solidFill>
            <a:srgbClr val="FCE8E8"/>
          </a:solidFill>
          <a:ln w="12700">
            <a:solidFill>
              <a:srgbClr val="FCE8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22592" y="2834640"/>
            <a:ext cx="1298448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File INCLUDES File</a:t>
            </a:r>
            <a:endParaRPr lang="en-US" sz="720" dirty="0"/>
          </a:p>
        </p:txBody>
      </p:sp>
      <p:sp>
        <p:nvSpPr>
          <p:cNvPr id="55" name="Shape 53"/>
          <p:cNvSpPr/>
          <p:nvPr/>
        </p:nvSpPr>
        <p:spPr>
          <a:xfrm>
            <a:off x="8458200" y="2834640"/>
            <a:ext cx="1618488" cy="201168"/>
          </a:xfrm>
          <a:prstGeom prst="roundRect">
            <a:avLst>
              <a:gd name="adj" fmla="val 27273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58200" y="2834640"/>
            <a:ext cx="1618488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15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Function CALLS Function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7022592" y="3191256"/>
            <a:ext cx="1389888" cy="201168"/>
          </a:xfrm>
          <a:prstGeom prst="roundRect">
            <a:avLst>
              <a:gd name="adj" fmla="val 27273"/>
            </a:avLst>
          </a:prstGeom>
          <a:solidFill>
            <a:srgbClr val="EAF7F0"/>
          </a:solidFill>
          <a:ln w="12700">
            <a:solidFill>
              <a:srgbClr val="EAF7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22592" y="3191256"/>
            <a:ext cx="1389888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38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Class INHERITS Class</a:t>
            </a:r>
            <a:endParaRPr lang="en-US" sz="720" dirty="0"/>
          </a:p>
        </p:txBody>
      </p:sp>
      <p:sp>
        <p:nvSpPr>
          <p:cNvPr id="59" name="Shape 57"/>
          <p:cNvSpPr/>
          <p:nvPr/>
        </p:nvSpPr>
        <p:spPr>
          <a:xfrm>
            <a:off x="8549640" y="3191256"/>
            <a:ext cx="1700784" cy="201168"/>
          </a:xfrm>
          <a:prstGeom prst="roundRect">
            <a:avLst>
              <a:gd name="adj" fmla="val 27273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549640" y="3191256"/>
            <a:ext cx="17007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 VERIFIES Requirement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7022592" y="3547872"/>
            <a:ext cx="1627632" cy="201168"/>
          </a:xfrm>
          <a:prstGeom prst="roundRect">
            <a:avLst>
              <a:gd name="adj" fmla="val 27273"/>
            </a:avLst>
          </a:prstGeom>
          <a:solidFill>
            <a:srgbClr val="FCE8E8"/>
          </a:solidFill>
          <a:ln w="12700">
            <a:solidFill>
              <a:srgbClr val="FCE8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22592" y="3547872"/>
            <a:ext cx="16276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ADR CONSTRAINS Module</a:t>
            </a:r>
            <a:endParaRPr lang="en-US" sz="720" dirty="0"/>
          </a:p>
        </p:txBody>
      </p:sp>
      <p:sp>
        <p:nvSpPr>
          <p:cNvPr id="63" name="Shape 61"/>
          <p:cNvSpPr/>
          <p:nvPr/>
        </p:nvSpPr>
        <p:spPr>
          <a:xfrm>
            <a:off x="8778240" y="3547872"/>
            <a:ext cx="1874520" cy="201168"/>
          </a:xfrm>
          <a:prstGeom prst="roundRect">
            <a:avLst>
              <a:gd name="adj" fmla="val 27273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778240" y="3547872"/>
            <a:ext cx="18745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15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 IMPLEMENTED_BY Symbol</a:t>
            </a:r>
            <a:endParaRPr lang="en-US" sz="720" dirty="0"/>
          </a:p>
        </p:txBody>
      </p:sp>
      <p:sp>
        <p:nvSpPr>
          <p:cNvPr id="65" name="Shape 63"/>
          <p:cNvSpPr/>
          <p:nvPr/>
        </p:nvSpPr>
        <p:spPr>
          <a:xfrm>
            <a:off x="6830568" y="4434840"/>
            <a:ext cx="5020056" cy="713232"/>
          </a:xfrm>
          <a:prstGeom prst="roundRect">
            <a:avLst>
              <a:gd name="adj" fmla="val 7692"/>
            </a:avLst>
          </a:prstGeom>
          <a:solidFill>
            <a:srgbClr val="FFF9E9"/>
          </a:solidFill>
          <a:ln w="12700">
            <a:solidFill>
              <a:srgbClr val="E9D28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022592" y="4590288"/>
            <a:ext cx="713232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0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关键边界：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7708392" y="4553712"/>
            <a:ext cx="385876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代码关系应由 Clang/clangd 确定性生成；LLM 抽取的业务关系必须带来源、置信度和审核状态。</a:t>
            </a:r>
            <a:endParaRPr lang="en-US" sz="9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182880"/>
            <a:ext cx="114757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方法三：向量数据库｜语义召回的高性能索引层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9184" y="576072"/>
            <a:ext cx="36576" cy="23774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76072"/>
            <a:ext cx="11475720" cy="23774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576072"/>
            <a:ext cx="112928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定位：存储与检索技术；向量库不是知识源，也不是完整 RAG，生产方案通常采用“过滤 + 混合召回 + 重排”。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" y="6547104"/>
            <a:ext cx="1152144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329184" y="6583680"/>
            <a:ext cx="457200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第二部分｜业界知识库方法论及技术洞察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33856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11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329184" y="9601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CE8E8"/>
          </a:solidFill>
          <a:ln w="12700">
            <a:solidFill>
              <a:srgbClr val="D99A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033272"/>
            <a:ext cx="163677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文档解析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402336" y="1271016"/>
            <a:ext cx="1636776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 / AST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语义边界切块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03704" y="1362456"/>
            <a:ext cx="274320" cy="0"/>
          </a:xfrm>
          <a:prstGeom prst="line">
            <a:avLst/>
          </a:prstGeom>
          <a:noFill/>
          <a:ln w="1651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670048" y="9601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EEF3FF"/>
          </a:solidFill>
          <a:ln w="12700">
            <a:solidFill>
              <a:srgbClr val="AABB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1033272"/>
            <a:ext cx="163677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多种表示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2743200" y="1271016"/>
            <a:ext cx="1636776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Dense 语义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Sparse 关键词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44568" y="1362456"/>
            <a:ext cx="274320" cy="0"/>
          </a:xfrm>
          <a:prstGeom prst="line">
            <a:avLst/>
          </a:prstGeom>
          <a:noFill/>
          <a:ln w="1651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10912" y="9601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EAF7F0"/>
          </a:solidFill>
          <a:ln w="12700">
            <a:solidFill>
              <a:srgbClr val="9CCF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84064" y="1033272"/>
            <a:ext cx="163677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元数据过滤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5084064" y="1271016"/>
            <a:ext cx="1636776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 · Module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Version · Status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85432" y="1362456"/>
            <a:ext cx="274320" cy="0"/>
          </a:xfrm>
          <a:prstGeom prst="line">
            <a:avLst/>
          </a:prstGeom>
          <a:noFill/>
          <a:ln w="1651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51776" y="9601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FF4E5"/>
          </a:solidFill>
          <a:ln w="12700">
            <a:solidFill>
              <a:srgbClr val="E5BE8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24928" y="1033272"/>
            <a:ext cx="163677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融合召回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7424928" y="1271016"/>
            <a:ext cx="1636776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BM25 / Sparse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Vector / RRF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226296" y="1362456"/>
            <a:ext cx="274320" cy="0"/>
          </a:xfrm>
          <a:prstGeom prst="line">
            <a:avLst/>
          </a:prstGeom>
          <a:noFill/>
          <a:ln w="1651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692640" y="9601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CE8E8"/>
          </a:solidFill>
          <a:ln w="12700">
            <a:solidFill>
              <a:srgbClr val="D99A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65792" y="1033272"/>
            <a:ext cx="163677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Reranker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9765792" y="1271016"/>
            <a:ext cx="1636776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Top-N → Top-K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带引用返回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9184" y="2084832"/>
            <a:ext cx="3675888" cy="1399032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" y="2084832"/>
            <a:ext cx="3675888" cy="36576"/>
          </a:xfrm>
          <a:prstGeom prst="rect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8912" y="21945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41248" y="2176272"/>
            <a:ext cx="3054096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Dense Vector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2532888"/>
            <a:ext cx="3419856" cy="8595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捕捉语义相近但措辞不同的内容。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例：“对象资源释放” ↔ “生命周期结束时清理”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4142232" y="2084832"/>
            <a:ext cx="3675888" cy="1399032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42232" y="2084832"/>
            <a:ext cx="3675888" cy="36576"/>
          </a:xfrm>
          <a:prstGeom prst="rect">
            <a:avLst/>
          </a:prstGeom>
          <a:solidFill>
            <a:srgbClr val="138A52"/>
          </a:solidFill>
          <a:ln w="12700">
            <a:solidFill>
              <a:srgbClr val="138A5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51960" y="21945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38A52"/>
          </a:solidFill>
          <a:ln w="12700">
            <a:solidFill>
              <a:srgbClr val="138A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51960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54296" y="2176272"/>
            <a:ext cx="3054096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Sparse / BM25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270248" y="2532888"/>
            <a:ext cx="3419856" cy="8595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捕捉类型名、API、宏、错误码、协议字段等精确术语。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例：ERR_INVALID_STATE · FooFactory::Create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7955280" y="2084832"/>
            <a:ext cx="3895344" cy="1399032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55280" y="2084832"/>
            <a:ext cx="3895344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65008" y="21945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65008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467344" y="2176272"/>
            <a:ext cx="3273552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Metadata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083296" y="2532888"/>
            <a:ext cx="3639312" cy="8595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先缩小候选范围，避免旧版本、错误模块和未批准文档进入上下文。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 · branch · module · platform · status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329184" y="3767328"/>
            <a:ext cx="276148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9184" y="3767328"/>
            <a:ext cx="41148" cy="1078992"/>
          </a:xfrm>
          <a:prstGeom prst="rect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" y="3840480"/>
            <a:ext cx="253288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Qdrant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75488" y="4123944"/>
            <a:ext cx="250545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过滤、Dense/Sparse、多阶段查询；适合作为独立向量检索服务。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3246120" y="3767328"/>
            <a:ext cx="276148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46120" y="3767328"/>
            <a:ext cx="41148" cy="1078992"/>
          </a:xfrm>
          <a:prstGeom prst="rect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92424" y="3840480"/>
            <a:ext cx="253288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pgvector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392424" y="4123944"/>
            <a:ext cx="250545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 PostgreSQL；规模适中、希望减少新组件时优先。</a:t>
            </a:r>
            <a:endParaRPr lang="en-US" sz="920" dirty="0"/>
          </a:p>
        </p:txBody>
      </p:sp>
      <p:sp>
        <p:nvSpPr>
          <p:cNvPr id="54" name="Shape 52"/>
          <p:cNvSpPr/>
          <p:nvPr/>
        </p:nvSpPr>
        <p:spPr>
          <a:xfrm>
            <a:off x="6153912" y="3767328"/>
            <a:ext cx="276148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53912" y="3767328"/>
            <a:ext cx="41148" cy="1078992"/>
          </a:xfrm>
          <a:prstGeom prst="rect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0216" y="3840480"/>
            <a:ext cx="253288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Milvus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300216" y="4123944"/>
            <a:ext cx="250545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面向大规模分布式向量检索，能力强但运维更复杂。</a:t>
            </a:r>
            <a:endParaRPr lang="en-US" sz="920" dirty="0"/>
          </a:p>
        </p:txBody>
      </p:sp>
      <p:sp>
        <p:nvSpPr>
          <p:cNvPr id="58" name="Shape 56"/>
          <p:cNvSpPr/>
          <p:nvPr/>
        </p:nvSpPr>
        <p:spPr>
          <a:xfrm>
            <a:off x="9089136" y="3767328"/>
            <a:ext cx="276148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089136" y="3767328"/>
            <a:ext cx="41148" cy="1078992"/>
          </a:xfrm>
          <a:prstGeom prst="rect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235440" y="3840480"/>
            <a:ext cx="253288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OpenSearch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9235440" y="4123944"/>
            <a:ext cx="250545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全文和字段过滤成熟；已有搜索基础设施时成本最低。</a:t>
            </a:r>
            <a:endParaRPr lang="en-US" sz="920" dirty="0"/>
          </a:p>
        </p:txBody>
      </p:sp>
      <p:sp>
        <p:nvSpPr>
          <p:cNvPr id="62" name="Shape 60"/>
          <p:cNvSpPr/>
          <p:nvPr/>
        </p:nvSpPr>
        <p:spPr>
          <a:xfrm>
            <a:off x="329184" y="5120640"/>
            <a:ext cx="11521440" cy="475488"/>
          </a:xfrm>
          <a:prstGeom prst="roundRect">
            <a:avLst>
              <a:gd name="adj" fmla="val 11538"/>
            </a:avLst>
          </a:prstGeom>
          <a:solidFill>
            <a:srgbClr val="FFF9E9"/>
          </a:solidFill>
          <a:ln w="12700">
            <a:solidFill>
              <a:srgbClr val="E9D28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920" y="5257800"/>
            <a:ext cx="98755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000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代码检索提示：</a:t>
            </a:r>
            <a:endParaRPr lang="en-US" sz="930" dirty="0"/>
          </a:p>
        </p:txBody>
      </p:sp>
      <p:sp>
        <p:nvSpPr>
          <p:cNvPr id="64" name="Text 62"/>
          <p:cNvSpPr/>
          <p:nvPr/>
        </p:nvSpPr>
        <p:spPr>
          <a:xfrm>
            <a:off x="1481328" y="5257800"/>
            <a:ext cx="9784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不要只按固定字符数切 C/C++ 代码；应按 AST、函数、类和符号边界组织检索单元。</a:t>
            </a:r>
            <a:endParaRPr lang="en-US" sz="9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182880"/>
            <a:ext cx="114757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三类方法对比｜不是三选一，而是上下游组合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9184" y="576072"/>
            <a:ext cx="36576" cy="23774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76072"/>
            <a:ext cx="11475720" cy="23774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576072"/>
            <a:ext cx="112928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结论：LLM Wiki 管“知识如何形成”，知识图谱管“关系如何表达”，向量数据库管“内容如何召回”。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" y="6547104"/>
            <a:ext cx="1152144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329184" y="6583680"/>
            <a:ext cx="457200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第二部分｜业界知识库方法论及技术洞察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33856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11</a:t>
            </a:r>
            <a:endParaRPr lang="en-US" sz="68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" y="941832"/>
          <a:ext cx="11521440" cy="2487168"/>
        </p:xfrm>
        <a:graphic>
          <a:graphicData uri="http://schemas.openxmlformats.org/drawingml/2006/table">
            <a:tbl>
              <a:tblPr/>
              <a:tblGrid>
                <a:gridCol w="1508760"/>
                <a:gridCol w="3246120"/>
                <a:gridCol w="3383280"/>
                <a:gridCol w="338328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LLM Wiki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RAG 知识图谱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向量数据库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本质层次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知识生产与治理方法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知识表示 + 图增强检索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存储与检索基础设施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基本单元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Markdown 页面、来源、链接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实体、关系、属性、路径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Point、Dense/Sparse Vector、Payload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最擅长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可读知识、摘要、交叉引用、人工审阅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依赖、影响、追踪、多跳问题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语义相似、关键词与大规模 Top-K 检索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主要短板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缺乏高性能检索与严格关系语义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Schema、消歧、增量维护成本高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只知道“相似”，不天然理解调用和因果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典型技术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Git、Obsidian、Microsoft LLM Wiki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Neo4j、GraphRAG、Graphiti、Clang 图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Qdrant、pgvector、Milvus、OpenSearch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推荐阶段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第一阶段必须建设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出现稳定多跳需求后渐进引入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第一阶段建立混合检索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9184" y="941832"/>
            <a:ext cx="11521440" cy="3383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9184" y="941832"/>
            <a:ext cx="1508760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837944" y="941832"/>
            <a:ext cx="3246120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Wiki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084064" y="941832"/>
            <a:ext cx="3383280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知识图谱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467344" y="941832"/>
            <a:ext cx="3383280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13232" y="3657600"/>
            <a:ext cx="10744200" cy="310896"/>
          </a:xfrm>
          <a:prstGeom prst="roundRect">
            <a:avLst>
              <a:gd name="adj" fmla="val 17647"/>
            </a:avLst>
          </a:prstGeom>
          <a:solidFill>
            <a:srgbClr val="FCE8E8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46120" y="3657600"/>
            <a:ext cx="1170432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权威事实</a:t>
            </a:r>
            <a:endParaRPr lang="en-US" sz="870" dirty="0"/>
          </a:p>
        </p:txBody>
      </p:sp>
      <p:sp>
        <p:nvSpPr>
          <p:cNvPr id="17" name="Text 14"/>
          <p:cNvSpPr/>
          <p:nvPr/>
        </p:nvSpPr>
        <p:spPr>
          <a:xfrm>
            <a:off x="4526280" y="3657600"/>
            <a:ext cx="48463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 · Docs · ADR · OpenSpec · Test</a:t>
            </a:r>
            <a:endParaRPr lang="en-US" sz="870" dirty="0"/>
          </a:p>
        </p:txBody>
      </p:sp>
      <p:sp>
        <p:nvSpPr>
          <p:cNvPr id="18" name="Shape 15"/>
          <p:cNvSpPr/>
          <p:nvPr/>
        </p:nvSpPr>
        <p:spPr>
          <a:xfrm>
            <a:off x="713232" y="4096512"/>
            <a:ext cx="10744200" cy="310896"/>
          </a:xfrm>
          <a:prstGeom prst="roundRect">
            <a:avLst>
              <a:gd name="adj" fmla="val 17647"/>
            </a:avLst>
          </a:prstGeom>
          <a:solidFill>
            <a:srgbClr val="FCE8E8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46120" y="4096512"/>
            <a:ext cx="1170432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知识治理</a:t>
            </a:r>
            <a:endParaRPr lang="en-US" sz="870" dirty="0"/>
          </a:p>
        </p:txBody>
      </p:sp>
      <p:sp>
        <p:nvSpPr>
          <p:cNvPr id="20" name="Text 17"/>
          <p:cNvSpPr/>
          <p:nvPr/>
        </p:nvSpPr>
        <p:spPr>
          <a:xfrm>
            <a:off x="4526280" y="4096512"/>
            <a:ext cx="48463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Wiki · 元数据 · Owner · 版本 · 审核状态</a:t>
            </a:r>
            <a:endParaRPr lang="en-US" sz="870" dirty="0"/>
          </a:p>
        </p:txBody>
      </p:sp>
      <p:sp>
        <p:nvSpPr>
          <p:cNvPr id="21" name="Shape 18"/>
          <p:cNvSpPr/>
          <p:nvPr/>
        </p:nvSpPr>
        <p:spPr>
          <a:xfrm>
            <a:off x="713232" y="4535424"/>
            <a:ext cx="10744200" cy="310896"/>
          </a:xfrm>
          <a:prstGeom prst="roundRect">
            <a:avLst>
              <a:gd name="adj" fmla="val 17647"/>
            </a:avLst>
          </a:prstGeom>
          <a:solidFill>
            <a:srgbClr val="EEF3FF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46120" y="4535424"/>
            <a:ext cx="1170432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表示与索引</a:t>
            </a:r>
            <a:endParaRPr lang="en-US" sz="870" dirty="0"/>
          </a:p>
        </p:txBody>
      </p:sp>
      <p:sp>
        <p:nvSpPr>
          <p:cNvPr id="23" name="Text 20"/>
          <p:cNvSpPr/>
          <p:nvPr/>
        </p:nvSpPr>
        <p:spPr>
          <a:xfrm>
            <a:off x="4526280" y="4535424"/>
            <a:ext cx="48463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 Chunk · 向量索引 · 代码图 · 知识图谱</a:t>
            </a:r>
            <a:endParaRPr lang="en-US" sz="870" dirty="0"/>
          </a:p>
        </p:txBody>
      </p:sp>
      <p:sp>
        <p:nvSpPr>
          <p:cNvPr id="24" name="Shape 21"/>
          <p:cNvSpPr/>
          <p:nvPr/>
        </p:nvSpPr>
        <p:spPr>
          <a:xfrm>
            <a:off x="713232" y="4974336"/>
            <a:ext cx="10744200" cy="310896"/>
          </a:xfrm>
          <a:prstGeom prst="roundRect">
            <a:avLst>
              <a:gd name="adj" fmla="val 17647"/>
            </a:avLst>
          </a:prstGeom>
          <a:solidFill>
            <a:srgbClr val="EAF7F0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46120" y="4974336"/>
            <a:ext cx="1170432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检索与组装</a:t>
            </a:r>
            <a:endParaRPr lang="en-US" sz="870" dirty="0"/>
          </a:p>
        </p:txBody>
      </p:sp>
      <p:sp>
        <p:nvSpPr>
          <p:cNvPr id="26" name="Text 23"/>
          <p:cNvSpPr/>
          <p:nvPr/>
        </p:nvSpPr>
        <p:spPr>
          <a:xfrm>
            <a:off x="4526280" y="4974336"/>
            <a:ext cx="48463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 · BM25 · Vector · Graph · Reranker · Context Pack</a:t>
            </a:r>
            <a:endParaRPr lang="en-US" sz="870" dirty="0"/>
          </a:p>
        </p:txBody>
      </p:sp>
      <p:sp>
        <p:nvSpPr>
          <p:cNvPr id="27" name="Shape 24"/>
          <p:cNvSpPr/>
          <p:nvPr/>
        </p:nvSpPr>
        <p:spPr>
          <a:xfrm>
            <a:off x="713232" y="5413248"/>
            <a:ext cx="10744200" cy="310896"/>
          </a:xfrm>
          <a:prstGeom prst="roundRect">
            <a:avLst>
              <a:gd name="adj" fmla="val 17647"/>
            </a:avLst>
          </a:prstGeom>
          <a:solidFill>
            <a:srgbClr val="FFF4E5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46120" y="5413248"/>
            <a:ext cx="1170432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Agent 与验证</a:t>
            </a:r>
            <a:endParaRPr lang="en-US" sz="870" dirty="0"/>
          </a:p>
        </p:txBody>
      </p:sp>
      <p:sp>
        <p:nvSpPr>
          <p:cNvPr id="29" name="Text 26"/>
          <p:cNvSpPr/>
          <p:nvPr/>
        </p:nvSpPr>
        <p:spPr>
          <a:xfrm>
            <a:off x="4526280" y="5413248"/>
            <a:ext cx="48463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 · Skills · MCP · Compile · Lint · Test · CI</a:t>
            </a:r>
            <a:endParaRPr lang="en-US" sz="8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182880"/>
            <a:ext cx="114757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目标架构｜治理、检索、代码智能与 Agent 闭环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9184" y="576072"/>
            <a:ext cx="36576" cy="23774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76072"/>
            <a:ext cx="11475720" cy="23774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576072"/>
            <a:ext cx="112928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目标：Agent 编码前自动获得“业务 + 架构 + 约束 + 相关代码 + 验证方式”，编码后由确定性工具完成质量闭环。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" y="6547104"/>
            <a:ext cx="1152144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329184" y="6583680"/>
            <a:ext cx="457200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第三部分｜项目知识库落地思路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33856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11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329184" y="914400"/>
            <a:ext cx="1847088" cy="5074920"/>
          </a:xfrm>
          <a:prstGeom prst="roundRect">
            <a:avLst>
              <a:gd name="adj" fmla="val 2970"/>
            </a:avLst>
          </a:prstGeom>
          <a:solidFill>
            <a:srgbClr val="FCFC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1024128"/>
            <a:ext cx="184708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权威知识源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57784" y="1417320"/>
            <a:ext cx="1389888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CCD2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" y="1417320"/>
            <a:ext cx="13898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源码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557784" y="1901952"/>
            <a:ext cx="1389888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CCD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" y="1901952"/>
            <a:ext cx="13898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 / ADR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57784" y="2386584"/>
            <a:ext cx="1389888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CCD2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" y="2386584"/>
            <a:ext cx="13898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OpenSpec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557784" y="2871216"/>
            <a:ext cx="1389888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CCD2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" y="2871216"/>
            <a:ext cx="13898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Issue / PR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557784" y="3355848"/>
            <a:ext cx="1389888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CCD2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" y="3355848"/>
            <a:ext cx="13898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 / 故障复盘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57784" y="4160520"/>
            <a:ext cx="1389888" cy="640080"/>
          </a:xfrm>
          <a:prstGeom prst="roundRect">
            <a:avLst>
              <a:gd name="adj" fmla="val 8571"/>
            </a:avLst>
          </a:prstGeom>
          <a:solidFill>
            <a:srgbClr val="FCE8E8"/>
          </a:solidFill>
          <a:ln w="12700">
            <a:solidFill>
              <a:srgbClr val="FCE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" y="4160520"/>
            <a:ext cx="138988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Owner · Version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Status · Provenance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2395728" y="914400"/>
            <a:ext cx="7132320" cy="457200"/>
          </a:xfrm>
          <a:prstGeom prst="roundRect">
            <a:avLst>
              <a:gd name="adj" fmla="val 12000"/>
            </a:avLst>
          </a:prstGeom>
          <a:solidFill>
            <a:srgbClr val="FCE8E8"/>
          </a:solidFill>
          <a:ln w="12700">
            <a:solidFill>
              <a:srgbClr val="D99A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95728" y="914400"/>
            <a:ext cx="71323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知识治理层｜Docs-as-Code + LLM Wiki + 元数据 + 冲突/过期管理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395728" y="1572768"/>
            <a:ext cx="2258568" cy="932688"/>
          </a:xfrm>
          <a:prstGeom prst="roundRect">
            <a:avLst>
              <a:gd name="adj" fmla="val 5882"/>
            </a:avLst>
          </a:prstGeom>
          <a:solidFill>
            <a:srgbClr val="EEF3FF"/>
          </a:solidFill>
          <a:ln w="12700">
            <a:solidFill>
              <a:srgbClr val="AABB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1645920"/>
            <a:ext cx="2112264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混合检索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2468880" y="1883664"/>
            <a:ext cx="2112264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BM25 · Dense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Filter · Rerank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37176" y="1572768"/>
            <a:ext cx="2258568" cy="932688"/>
          </a:xfrm>
          <a:prstGeom prst="roundRect">
            <a:avLst>
              <a:gd name="adj" fmla="val 5882"/>
            </a:avLst>
          </a:prstGeom>
          <a:solidFill>
            <a:srgbClr val="FFF4E5"/>
          </a:solidFill>
          <a:ln w="12700">
            <a:solidFill>
              <a:srgbClr val="E5BE8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0328" y="1645920"/>
            <a:ext cx="2112264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代码智能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4910328" y="1883664"/>
            <a:ext cx="2112264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Clang/clangd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Symbol · Call · Include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278624" y="1572768"/>
            <a:ext cx="2249424" cy="932688"/>
          </a:xfrm>
          <a:prstGeom prst="roundRect">
            <a:avLst>
              <a:gd name="adj" fmla="val 5882"/>
            </a:avLst>
          </a:prstGeom>
          <a:solidFill>
            <a:srgbClr val="EAF7F0"/>
          </a:solidFill>
          <a:ln w="12700">
            <a:solidFill>
              <a:srgbClr val="9CCF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51776" y="1645920"/>
            <a:ext cx="21031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可选图谱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7351776" y="1883664"/>
            <a:ext cx="21031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Requirement · ADR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· Test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395728" y="2715768"/>
            <a:ext cx="7132320" cy="438912"/>
          </a:xfrm>
          <a:prstGeom prst="roundRect">
            <a:avLst>
              <a:gd name="adj" fmla="val 12500"/>
            </a:avLst>
          </a:prstGeom>
          <a:solidFill>
            <a:srgbClr val="EEF3FF"/>
          </a:solidFill>
          <a:ln w="12700">
            <a:solidFill>
              <a:srgbClr val="AABB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95728" y="2715768"/>
            <a:ext cx="71323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 Engine｜查询规划 · 多路召回 · 引用 · Token 预算 · Context Pack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95728" y="3355848"/>
            <a:ext cx="2258568" cy="932688"/>
          </a:xfrm>
          <a:prstGeom prst="roundRect">
            <a:avLst>
              <a:gd name="adj" fmla="val 5882"/>
            </a:avLst>
          </a:prstGeom>
          <a:solidFill>
            <a:srgbClr val="FCE8E8"/>
          </a:solidFill>
          <a:ln w="12700">
            <a:solidFill>
              <a:srgbClr val="D99A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68880" y="3429000"/>
            <a:ext cx="2112264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 / CLAUDE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2468880" y="3666744"/>
            <a:ext cx="2112264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常驻与路径规则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37176" y="3355848"/>
            <a:ext cx="2258568" cy="932688"/>
          </a:xfrm>
          <a:prstGeom prst="roundRect">
            <a:avLst>
              <a:gd name="adj" fmla="val 5882"/>
            </a:avLst>
          </a:prstGeom>
          <a:solidFill>
            <a:srgbClr val="EEF3FF"/>
          </a:solidFill>
          <a:ln w="12700">
            <a:solidFill>
              <a:srgbClr val="AABB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0328" y="3429000"/>
            <a:ext cx="2112264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 + MCP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4910328" y="3666744"/>
            <a:ext cx="2112264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按需知识与工具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278624" y="3355848"/>
            <a:ext cx="2249424" cy="932688"/>
          </a:xfrm>
          <a:prstGeom prst="roundRect">
            <a:avLst>
              <a:gd name="adj" fmla="val 5882"/>
            </a:avLst>
          </a:prstGeom>
          <a:solidFill>
            <a:srgbClr val="EAF7F0"/>
          </a:solidFill>
          <a:ln w="12700">
            <a:solidFill>
              <a:srgbClr val="9CCFB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51776" y="3429000"/>
            <a:ext cx="21031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OpenSpec Apply</a:t>
            </a:r>
            <a:endParaRPr lang="en-US" sz="1020" dirty="0"/>
          </a:p>
        </p:txBody>
      </p:sp>
      <p:sp>
        <p:nvSpPr>
          <p:cNvPr id="44" name="Text 42"/>
          <p:cNvSpPr/>
          <p:nvPr/>
        </p:nvSpPr>
        <p:spPr>
          <a:xfrm>
            <a:off x="7351776" y="3666744"/>
            <a:ext cx="21031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任务边界与验收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395728" y="4498848"/>
            <a:ext cx="7132320" cy="457200"/>
          </a:xfrm>
          <a:prstGeom prst="roundRect">
            <a:avLst>
              <a:gd name="adj" fmla="val 12000"/>
            </a:avLst>
          </a:prstGeom>
          <a:solidFill>
            <a:srgbClr val="EAF7F0"/>
          </a:solidFill>
          <a:ln w="12700">
            <a:solidFill>
              <a:srgbClr val="9CCFB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95728" y="4498848"/>
            <a:ext cx="71323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质量闭环｜Build · clang-format · clang-tidy · Test · Sanitizer · CI</a:t>
            </a:r>
            <a:endParaRPr lang="en-US" sz="1030" dirty="0"/>
          </a:p>
        </p:txBody>
      </p:sp>
      <p:sp>
        <p:nvSpPr>
          <p:cNvPr id="47" name="Shape 45"/>
          <p:cNvSpPr/>
          <p:nvPr/>
        </p:nvSpPr>
        <p:spPr>
          <a:xfrm>
            <a:off x="9738360" y="914400"/>
            <a:ext cx="2112264" cy="5074920"/>
          </a:xfrm>
          <a:prstGeom prst="roundRect">
            <a:avLst>
              <a:gd name="adj" fmla="val 2597"/>
            </a:avLst>
          </a:prstGeom>
          <a:solidFill>
            <a:srgbClr val="FCFC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738360" y="1024128"/>
            <a:ext cx="2112264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获得的 Context Pack</a:t>
            </a:r>
            <a:endParaRPr lang="en-US" sz="1120" dirty="0"/>
          </a:p>
        </p:txBody>
      </p:sp>
      <p:sp>
        <p:nvSpPr>
          <p:cNvPr id="49" name="Shape 47"/>
          <p:cNvSpPr/>
          <p:nvPr/>
        </p:nvSpPr>
        <p:spPr>
          <a:xfrm>
            <a:off x="9912096" y="1417320"/>
            <a:ext cx="176479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CCD2D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912096" y="1417320"/>
            <a:ext cx="176479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本次需求与非目标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912096" y="1920240"/>
            <a:ext cx="176479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CCD2D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912096" y="1920240"/>
            <a:ext cx="176479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模块职责与 ADR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9912096" y="2423160"/>
            <a:ext cx="176479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CCD2D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912096" y="2423160"/>
            <a:ext cx="176479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强制编码约束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9912096" y="2926080"/>
            <a:ext cx="176479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CCD2D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912096" y="2926080"/>
            <a:ext cx="176479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符号、调用链、相似实现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9912096" y="3429000"/>
            <a:ext cx="176479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CCD2D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912096" y="3429000"/>
            <a:ext cx="176479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测试与验证命令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9912096" y="4251960"/>
            <a:ext cx="1764792" cy="640080"/>
          </a:xfrm>
          <a:prstGeom prst="roundRect">
            <a:avLst>
              <a:gd name="adj" fmla="val 8571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912096" y="4251960"/>
            <a:ext cx="176479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00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有来源 · 有版本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00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有边界 · 可验证</a:t>
            </a:r>
            <a:endParaRPr lang="en-US" sz="9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182880"/>
            <a:ext cx="114757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落地方案｜知识、检索、代码图、Agent 四条链协同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9184" y="576072"/>
            <a:ext cx="36576" cy="23774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76072"/>
            <a:ext cx="11475720" cy="23774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576072"/>
            <a:ext cx="112928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原则：先治理、再检索；先评测、再图谱；权威源与派生索引分离，避免“一上来堆数据库”。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" y="6547104"/>
            <a:ext cx="1152144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329184" y="6583680"/>
            <a:ext cx="457200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第三部分｜项目知识库落地思路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33856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11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329184" y="932688"/>
            <a:ext cx="562356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" y="10424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042416"/>
            <a:ext cx="31089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1024128"/>
            <a:ext cx="5001768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知识治理链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1380744"/>
            <a:ext cx="5367528" cy="1517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输入：CLAUDE.md、Skills、Specs、Docs、ADR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动作：分类去重、Owner、适用路径、版本、审核状态、来源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产出：Git 中可信的知识本体 + LLM Wiki 派生层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512064" y="2468880"/>
            <a:ext cx="1755648" cy="201168"/>
          </a:xfrm>
          <a:prstGeom prst="roundRect">
            <a:avLst>
              <a:gd name="adj" fmla="val 27273"/>
            </a:avLst>
          </a:prstGeom>
          <a:solidFill>
            <a:srgbClr val="FCE8E8"/>
          </a:solidFill>
          <a:ln w="12700">
            <a:solidFill>
              <a:srgbClr val="FC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468880"/>
            <a:ext cx="1755648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权威源不被 AI 摘要覆盖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6144768" y="932688"/>
            <a:ext cx="5705856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54496" y="10424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4496" y="1042416"/>
            <a:ext cx="31089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56832" y="1024128"/>
            <a:ext cx="5084064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混合检索链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72784" y="1380744"/>
            <a:ext cx="5449824" cy="1517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召回：Metadata Filter + BM25/Sparse + Dense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精排：RRF + Cross-Encoder/Reranker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产出：带来源、版本与相关度的 Top-K 文档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327648" y="2468880"/>
            <a:ext cx="2779776" cy="201168"/>
          </a:xfrm>
          <a:prstGeom prst="roundRect">
            <a:avLst>
              <a:gd name="adj" fmla="val 27273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27648" y="2468880"/>
            <a:ext cx="277977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15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Qdrant / pgvector / OpenSearch 三选一优先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329184" y="3182112"/>
            <a:ext cx="562356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" y="32918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1248" y="3273552"/>
            <a:ext cx="5001768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C/C++ 代码智能链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630168"/>
            <a:ext cx="5367528" cy="1517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输入：compile_commands.json + Git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提取：Definition / Reference / Call / Include / Inheritance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产出：符号上下文、调用链、影响范围、相似实现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512064" y="4718304"/>
            <a:ext cx="2121408" cy="201168"/>
          </a:xfrm>
          <a:prstGeom prst="roundRect">
            <a:avLst>
              <a:gd name="adj" fmla="val 27273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" y="4718304"/>
            <a:ext cx="2121408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Clang/clangd 优先于 LLM 自动猜图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144768" y="3182112"/>
            <a:ext cx="5705856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54496" y="32918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38A52"/>
          </a:solidFill>
          <a:ln w="12700">
            <a:solidFill>
              <a:srgbClr val="138A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56832" y="3273552"/>
            <a:ext cx="5084064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接入与验证链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72784" y="3630168"/>
            <a:ext cx="5449824" cy="1517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入口：AGENTS.md / CLAUDE.md / prepare-change Skill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工具：MCP 构建 Context Pack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闭环：OpenSpec → 编码 → Build/Lint/Test/Sanitizer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6327648" y="4718304"/>
            <a:ext cx="2432304" cy="201168"/>
          </a:xfrm>
          <a:prstGeom prst="roundRect">
            <a:avLst>
              <a:gd name="adj" fmla="val 27273"/>
            </a:avLst>
          </a:prstGeom>
          <a:solidFill>
            <a:srgbClr val="EAF7F0"/>
          </a:solidFill>
          <a:ln w="12700">
            <a:solidFill>
              <a:srgbClr val="EAF7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27648" y="4718304"/>
            <a:ext cx="243230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38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“知道什么是对的” + “阻止错误通过”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329184" y="5504688"/>
            <a:ext cx="11521440" cy="475488"/>
          </a:xfrm>
          <a:prstGeom prst="roundRect">
            <a:avLst>
              <a:gd name="adj" fmla="val 11538"/>
            </a:avLst>
          </a:prstGeom>
          <a:solidFill>
            <a:srgbClr val="FFF9E9"/>
          </a:solidFill>
          <a:ln w="12700">
            <a:solidFill>
              <a:srgbClr val="E9D2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5641848"/>
            <a:ext cx="84124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00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第一版建议：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1335024" y="5641848"/>
            <a:ext cx="1013155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Markdown + OpenSpec + 一个混合检索后端 + Clang 符号服务 + MCP；Neo4j 在多跳查询价值被验证后引入。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182880"/>
            <a:ext cx="114757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落地节奏｜以可评测增益驱动能力演进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9184" y="576072"/>
            <a:ext cx="36576" cy="23774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76072"/>
            <a:ext cx="11475720" cy="23774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576072"/>
            <a:ext cx="112928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每一阶段都用历史真实任务验证检索是否更准、首轮成功率是否提高；没有增益的复杂技术不进入生产。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" y="6547104"/>
            <a:ext cx="1152144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329184" y="6583680"/>
            <a:ext cx="457200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第三部分｜项目知识库落地思路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33856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11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530352" y="1097280"/>
            <a:ext cx="0" cy="4800600"/>
          </a:xfrm>
          <a:prstGeom prst="line">
            <a:avLst/>
          </a:prstGeom>
          <a:noFill/>
          <a:ln w="27940">
            <a:solidFill>
              <a:srgbClr val="D7DCE4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429768" y="1124712"/>
            <a:ext cx="201168" cy="201168"/>
          </a:xfrm>
          <a:prstGeom prst="ellipse">
            <a:avLst/>
          </a:prstGeom>
          <a:solidFill>
            <a:srgbClr val="C00000"/>
          </a:solidFill>
          <a:ln w="25400">
            <a:solidFill>
              <a:srgbClr val="F5CE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941832"/>
            <a:ext cx="1111910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941832"/>
            <a:ext cx="41148" cy="9601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033272"/>
            <a:ext cx="11887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1399032"/>
            <a:ext cx="1298448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知识治理与基线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14600" y="1097280"/>
            <a:ext cx="626364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盘点存量 Docs / Skills / Specs；建立分类、Owner、版本、状态；形成根/目录级 Agent 入口。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9491472" y="1078992"/>
            <a:ext cx="20116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 可信知识目录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门槛 50～200 个历史任务基线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429768" y="2331720"/>
            <a:ext cx="201168" cy="201168"/>
          </a:xfrm>
          <a:prstGeom prst="ellipse">
            <a:avLst/>
          </a:prstGeom>
          <a:solidFill>
            <a:srgbClr val="3157D5"/>
          </a:solidFill>
          <a:ln w="25400">
            <a:solidFill>
              <a:srgbClr val="F5CEC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2148840"/>
            <a:ext cx="1111910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2148840"/>
            <a:ext cx="41148" cy="960120"/>
          </a:xfrm>
          <a:prstGeom prst="rect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2240280"/>
            <a:ext cx="11887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2606040"/>
            <a:ext cx="1298448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混合检索与 MCP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14600" y="2304288"/>
            <a:ext cx="626364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文档结构化切块；Metadata + BM25 + Dense + Rerank；提供 search / context-pack MCP。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9491472" y="2286000"/>
            <a:ext cx="20116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 Recall@K / Precision@K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门槛 过期知识默认不可召回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29768" y="3538728"/>
            <a:ext cx="201168" cy="201168"/>
          </a:xfrm>
          <a:prstGeom prst="ellipse">
            <a:avLst/>
          </a:prstGeom>
          <a:solidFill>
            <a:srgbClr val="D97706"/>
          </a:solidFill>
          <a:ln w="25400">
            <a:solidFill>
              <a:srgbClr val="F5CEC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3355848"/>
            <a:ext cx="1111910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3355848"/>
            <a:ext cx="41148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447288"/>
            <a:ext cx="11887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4400" y="3813048"/>
            <a:ext cx="1298448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C/C++ 代码智能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514600" y="3511296"/>
            <a:ext cx="626364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compile_commands.json 建立符号、调用、include、继承关系；与文档检索联合组装上下文。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9491472" y="3493008"/>
            <a:ext cx="20116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 相关文件/符号命中率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门槛 跨文件任务成功率提升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429768" y="4745736"/>
            <a:ext cx="201168" cy="201168"/>
          </a:xfrm>
          <a:prstGeom prst="ellipse">
            <a:avLst/>
          </a:prstGeom>
          <a:solidFill>
            <a:srgbClr val="138A52"/>
          </a:solidFill>
          <a:ln w="25400">
            <a:solidFill>
              <a:srgbClr val="F5CEC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" y="4562856"/>
            <a:ext cx="1111910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" y="4562856"/>
            <a:ext cx="41148" cy="960120"/>
          </a:xfrm>
          <a:prstGeom prst="rect">
            <a:avLst/>
          </a:prstGeom>
          <a:solidFill>
            <a:srgbClr val="138A52"/>
          </a:solidFill>
          <a:ln w="12700">
            <a:solidFill>
              <a:srgbClr val="138A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4654296"/>
            <a:ext cx="11887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4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14400" y="5020056"/>
            <a:ext cx="1298448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图谱与持续治理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514600" y="4718304"/>
            <a:ext cx="626364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仅针对已验证的多跳问题增加 Neo4j；建立需求—ADR—模块—代码—测试追踪与增量同步。</a:t>
            </a:r>
            <a:endParaRPr lang="en-US" sz="930" dirty="0"/>
          </a:p>
        </p:txBody>
      </p:sp>
      <p:sp>
        <p:nvSpPr>
          <p:cNvPr id="37" name="Text 35"/>
          <p:cNvSpPr/>
          <p:nvPr/>
        </p:nvSpPr>
        <p:spPr>
          <a:xfrm>
            <a:off x="9491472" y="4700016"/>
            <a:ext cx="20116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 影响分析准确率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门槛 收益覆盖维护成本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731520" y="5833872"/>
            <a:ext cx="11119104" cy="347472"/>
          </a:xfrm>
          <a:prstGeom prst="roundRect">
            <a:avLst>
              <a:gd name="adj" fmla="val 15789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97480" y="5833872"/>
            <a:ext cx="100584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核心业务指标：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3822192" y="5833872"/>
            <a:ext cx="60807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00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首次编译成功率 · 首次测试通过率 · 架构违规数 · Reviewer 修改轮数 · 首次提交可接受率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大型 C/C++ 项目 Agent 知识库建设洞察</dc:title>
  <dc:subject>大型 C/C++ 项目 Agent 知识库建设方案</dc:subject>
  <dc:creator>Cursor</dc:creator>
  <cp:lastModifiedBy>Cursor</cp:lastModifiedBy>
  <cp:revision>1</cp:revision>
  <dcterms:created xsi:type="dcterms:W3CDTF">2026-07-15T09:13:49Z</dcterms:created>
  <dcterms:modified xsi:type="dcterms:W3CDTF">2026-07-15T09:13:49Z</dcterms:modified>
</cp:coreProperties>
</file>