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28650"/>
            <a:ext cx="5715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洞 察 分 析 报 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914400"/>
            <a:ext cx="108585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300" b="1">
                <a:solidFill>
                  <a:srgbClr val="C00000"/>
                </a:solidFill>
                <a:latin typeface="微软雅黑"/>
                <a:ea typeface="微软雅黑"/>
              </a:rPr>
              <a:t>AI 编码 Agent 知识库建设洞察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3300" b="1">
                <a:solidFill>
                  <a:srgbClr val="C00000"/>
                </a:solidFill>
                <a:latin typeface="微软雅黑"/>
                <a:ea typeface="微软雅黑"/>
              </a:rPr>
              <a:t>——面向大型 C/C++ 项目的技术路线选型与落地方案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666750" y="2324100"/>
            <a:ext cx="9144000" cy="3429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" y="2324100"/>
            <a:ext cx="8953500" cy="3429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业界应用洞察 · 方法论与技术洞察 · 项目落地思路  |  目标：让 Agent 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一次写对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2971800"/>
            <a:ext cx="3486150" cy="1066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850" y="2971800"/>
            <a:ext cx="340995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50" y="31242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143250"/>
            <a:ext cx="2762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微软雅黑"/>
                <a:ea typeface="微软雅黑"/>
              </a:rPr>
              <a:t>第一部分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486150"/>
            <a:ext cx="318135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业界知识库应用洞察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Claude Code / Cursor / DeepWiki 三个头部案例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450" y="2971800"/>
            <a:ext cx="3486150" cy="1066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0550" y="2971800"/>
            <a:ext cx="340995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14850" y="31242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850" y="3143250"/>
            <a:ext cx="2762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微软雅黑"/>
                <a:ea typeface="微软雅黑"/>
              </a:rPr>
              <a:t>第二部分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850" y="3486150"/>
            <a:ext cx="318135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业界知识库方法论及技术洞察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LLM Wiki / RAG 知识图谱 / 向量数据库 + 横向对比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150" y="2971800"/>
            <a:ext cx="3486150" cy="1066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6250" y="2971800"/>
            <a:ext cx="340995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0550" y="3124200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1550" y="3143250"/>
            <a:ext cx="2762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000000"/>
                </a:solidFill>
                <a:latin typeface="微软雅黑"/>
                <a:ea typeface="微软雅黑"/>
              </a:rPr>
              <a:t>第三部分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0550" y="3486150"/>
            <a:ext cx="318135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项目知识库落地思路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目标架构 / 落地方案 / 落地节奏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50" y="4362450"/>
            <a:ext cx="10858500" cy="87630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050" y="4448175"/>
            <a:ext cx="74295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核心结论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9250" y="4438650"/>
            <a:ext cx="97726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三种方案不是三选一，业界已收敛为</a:t>
            </a:r>
            <a:r>
              <a:rPr sz="1250" b="1">
                <a:solidFill>
                  <a:srgbClr val="0000FF"/>
                </a:solidFill>
                <a:latin typeface="微软雅黑"/>
                <a:ea typeface="微软雅黑"/>
              </a:rPr>
              <a:t>分层混合架构</a:t>
            </a: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：Markdown 知识库为主干（管意图与约束）+ LSP/代码图谱为骨架（管结构关系）+ 向量检索按需补充（管模糊查找）；</a:t>
            </a:r>
            <a:r>
              <a:rPr sz="1250" b="1">
                <a:solidFill>
                  <a:srgbClr val="0000FF"/>
                </a:solidFill>
                <a:latin typeface="微软雅黑"/>
                <a:ea typeface="微软雅黑"/>
              </a:rPr>
              <a:t>"一次写对"的天花板由知识质量与保鲜机制决定，而非检索技术</a:t>
            </a:r>
            <a:r>
              <a:rPr sz="1250" b="0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554355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大型 C/C++ 项目（100kloc ~ 数千 kloc）· Claude Code + OpenSpec 工作流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100" y="6610350"/>
            <a:ext cx="113538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1.1 案例一：Claude Code（Anthropic）—— Agentic Search + 分层 Markdown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495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4953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头部 Agent 的检索主干是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"不建索引、现场检索"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；跨会话知识用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手写分层 Markdown（CLAUDE.md）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承载——知识库做成文件，与 Agent 零摩擦对接。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第一部分 · 业界知识库应用洞察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33500"/>
            <a:ext cx="5334000" cy="15049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知识管理方式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676400"/>
            <a:ext cx="50673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分层 CLAUDE.md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：根文件管全局（&lt;150 行，命令优先），模块子目录放局部约定，自动加载最近的一份（OpenAI 主仓有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88 个 AGENTS.md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Agentic Search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：Agent 反复调用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grep / glob / read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 自主缩小范围，不预建任何索引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记忆即文件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：跨会话记忆 = 手写 Markdown，拒绝向量召回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" y="2933700"/>
            <a:ext cx="5334000" cy="13335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450" y="30765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099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为何放弃向量 RAG（作者 Boris Cherny 自述）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3276600"/>
            <a:ext cx="50673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精确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：grep 精确匹配，embedding 引入模糊误报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简单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：无索引可建、可维护、可过期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新鲜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：直查文件系统，索引不会"说谎"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隐私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：代码不出本机做 embedding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9100" y="4381500"/>
            <a:ext cx="5334000" cy="70485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3400" y="4467225"/>
            <a:ext cx="45720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启示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4457700"/>
            <a:ext cx="45339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知识库做成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结构化 Markdown 文件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就是对 Claude Code 最原生的接入方式；大仓库补充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LSP 符号级导航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（官方列为最高价值投资）。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5500" y="1333500"/>
            <a:ext cx="5867400" cy="514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88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工作机制示意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8600" y="1714500"/>
            <a:ext cx="2000250" cy="47625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8600" y="1771650"/>
            <a:ext cx="2000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Claude Code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600" y="198120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微软雅黑"/>
                <a:ea typeface="微软雅黑"/>
              </a:rPr>
              <a:t>推理循环：搜索 → 阅读 → 编写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4100" y="2667000"/>
            <a:ext cx="2476500" cy="12382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4100" y="2724150"/>
            <a:ext cx="247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分层 CLAUDE.md（宪法层）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6500" y="2952750"/>
            <a:ext cx="2152650" cy="247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6500" y="2990850"/>
            <a:ext cx="2152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/CLAUDE.md　全局约束+命令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1750" y="3257550"/>
            <a:ext cx="2057400" cy="247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1750" y="3295650"/>
            <a:ext cx="2057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/src/net/CLAUDE.md　模块约定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7000" y="3562350"/>
            <a:ext cx="1962150" cy="247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0" y="3600450"/>
            <a:ext cx="19621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/src/db/CLAUDE.md　……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6850" y="2667000"/>
            <a:ext cx="2495550" cy="12382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6850" y="2724150"/>
            <a:ext cx="2495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Agentic Search 工具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9250" y="2952750"/>
            <a:ext cx="666750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2981325"/>
            <a:ext cx="666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grep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01250" y="2952750"/>
            <a:ext cx="666750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01250" y="2981325"/>
            <a:ext cx="666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glob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63250" y="2952750"/>
            <a:ext cx="666750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63250" y="2981325"/>
            <a:ext cx="666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read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239250" y="3257550"/>
            <a:ext cx="2190750" cy="22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3286125"/>
            <a:ext cx="2190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LSP / MCP 工具（大仓库扩展）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86850" y="3581400"/>
            <a:ext cx="24955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反复调用、自主缩小范围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372350" y="2209800"/>
            <a:ext cx="857250" cy="4381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19850" y="23431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C00000"/>
                </a:solidFill>
                <a:latin typeface="微软雅黑"/>
                <a:ea typeface="微软雅黑"/>
              </a:rPr>
              <a:t>会话启动自动加载</a:t>
            </a:r>
          </a:p>
        </p:txBody>
      </p:sp>
      <p:cxnSp>
        <p:nvCxnSpPr>
          <p:cNvPr id="47" name="Connector 46"/>
          <p:cNvCxnSpPr/>
          <p:nvPr/>
        </p:nvCxnSpPr>
        <p:spPr>
          <a:xfrm flipH="1" flipV="1">
            <a:off x="9525000" y="2209800"/>
            <a:ext cx="800100" cy="43815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944100" y="23431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000FF"/>
                </a:solidFill>
                <a:latin typeface="微软雅黑"/>
                <a:ea typeface="微软雅黑"/>
              </a:rPr>
              <a:t>按需现场检索(无索引)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7100" y="4286250"/>
            <a:ext cx="3143250" cy="5143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7100" y="4343400"/>
            <a:ext cx="3143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微软雅黑"/>
                <a:ea typeface="微软雅黑"/>
              </a:rPr>
              <a:t>代码仓（实时文件系统）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7100" y="4552950"/>
            <a:ext cx="3143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源码 · docs/ · specs/ —— 永远最新，无索引漂移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372350" y="3924300"/>
            <a:ext cx="762000" cy="3429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9563100" y="3924300"/>
            <a:ext cx="762000" cy="34290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7277100" y="5105400"/>
            <a:ext cx="3143250" cy="4762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77100" y="5162550"/>
            <a:ext cx="3143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跨会话记忆 = 手写 Markdown 回写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77100" y="5362575"/>
            <a:ext cx="3143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犯错 → 教训写回 CLAUDE.md（无损、精确、可评审）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848725" y="4800600"/>
            <a:ext cx="0" cy="2857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1.2 案例二：Cursor —— 深度工程化的向量索引路线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495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4953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Cursor 把向量 RAG 做到工程极致（AST 分块 + 代码专训 Embedding + Merkle 树增量同步），证明了语义检索在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概念查找与大仓冷启动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上的增量价值：答题准确率提升 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12.5%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（6.5%~23.5% 视模型而定）。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第一部分 · 业界知识库应用洞察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33500"/>
            <a:ext cx="6229350" cy="514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索引与检索流水线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695450"/>
            <a:ext cx="3810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① 构建期：增量索引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50" y="1924050"/>
            <a:ext cx="1428750" cy="53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198120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本地代码仓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550" y="2171700"/>
            <a:ext cx="1352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每次保存/提交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81200" y="2190750"/>
            <a:ext cx="1143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095500" y="1924050"/>
            <a:ext cx="1428750" cy="5334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5500" y="198120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Merkle 树比对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3600" y="2171700"/>
            <a:ext cx="1352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只算变更哈希 7.87s→525ms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4250" y="2190750"/>
            <a:ext cx="1143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638550" y="1924050"/>
            <a:ext cx="1428750" cy="5334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8550" y="198120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AST 感知分块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650" y="2171700"/>
            <a:ext cx="1352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tree-sitter 按语法切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67300" y="2190750"/>
            <a:ext cx="1143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81600" y="1924050"/>
            <a:ext cx="1428750" cy="5334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1600" y="198120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代码专训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9700" y="2171700"/>
            <a:ext cx="1352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块 → 高维向量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95700" y="2705100"/>
            <a:ext cx="2819400" cy="5905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5700" y="2762250"/>
            <a:ext cx="2819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云端向量库 Turbopuffer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5700" y="2952750"/>
            <a:ext cx="28194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向量 + 全文混合检索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只存脱敏路径+向量，源码不出本机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505450" y="2457450"/>
            <a:ext cx="390525" cy="22860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2450" y="3505200"/>
            <a:ext cx="4191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② 查询期：语义检索 + Agentic 工具叠加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450" y="3733800"/>
            <a:ext cx="1809750" cy="53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2450" y="3790950"/>
            <a:ext cx="1809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用户 / Agent 提问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50" y="400050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"限流逻辑在哪里？"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62200" y="4000500"/>
            <a:ext cx="20955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571750" y="3733800"/>
            <a:ext cx="1809750" cy="5334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71750" y="3790950"/>
            <a:ext cx="1809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语义检索 Top-N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9850" y="400050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按"意思"召回候选块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381500" y="4000500"/>
            <a:ext cx="20955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591050" y="3733800"/>
            <a:ext cx="1809750" cy="5334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1050" y="3790950"/>
            <a:ext cx="1809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Agentic 工具验证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9150" y="400050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grep/read 复核后再写码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3600450" y="3295650"/>
            <a:ext cx="1504950" cy="419100"/>
          </a:xfrm>
          <a:prstGeom prst="line">
            <a:avLst/>
          </a:prstGeom>
          <a:ln w="15875">
            <a:solidFill>
              <a:srgbClr val="0000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2450" y="4552950"/>
            <a:ext cx="5962650" cy="8001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850" y="4648200"/>
            <a:ext cx="285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微软雅黑"/>
                <a:ea typeface="微软雅黑"/>
              </a:rPr>
              <a:t>同路线玩家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850" y="4876800"/>
            <a:ext cx="56769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GitHub Copilot：Blackbird 引擎，索引 115TB / 530 亿源文件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Windsurf（M-Query 索引）· Devin（自建代码索引 + 结构化规划）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81800" y="1333500"/>
            <a:ext cx="4991100" cy="11239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151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85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解决什么问题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5150" y="1676400"/>
            <a:ext cx="47244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不知道确切符号名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时按"意思"找代码（spec 叫"流控"，代码叫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throttle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超大陌生仓库的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冷启动定位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，减少探索轮次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81800" y="2571750"/>
            <a:ext cx="4991100" cy="15049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15150" y="27146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8500" y="26479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代价与边界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15150" y="2914650"/>
            <a:ext cx="47244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索引保鲜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是持续工程负担（Merkle 增量同步就是为此而生）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对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精确符号查询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不敌 grep/LSP：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getUserById 与 getUserByEmail 语义相邻难分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检索黑盒，坏结果难调试；私有仓需评估代码出境做 embedding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81800" y="4210050"/>
            <a:ext cx="4991100" cy="87630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96100" y="4295775"/>
            <a:ext cx="45720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启示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48550" y="4286250"/>
            <a:ext cx="4191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向量检索的价值窗口是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概念检索与冷启动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，且必须与 agentic 工具叠加使用——Cursor 自己也不是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"一次向量检索定胜负"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1.3 案例三：DeepWiki（Cognition / Devin）—— 自动生成的代码仓 Wiki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495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4953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对大型仓库，"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预消化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"的知识层（更小、更干净、可导航的 Markdown 制品）能显著提升 Agent 理解效率——Devin 问答先查 Wiki 再定位代码；Google CodeWiki、Greptile、微软 deep-wiki skill 同属此路线。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第一部分 · 业界知识库应用洞察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33500"/>
            <a:ext cx="5334000" cy="18288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知识管理方式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676400"/>
            <a:ext cx="50673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自动分析仓库结构 → LLM 生成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架构图（Mermaid）、组件表、时序图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 的 wiki 页面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每个论断带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file:line 引用锚点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，可回溯到源码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PR 合并后自动更新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，保持与代码同步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支持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.devin/wiki.json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 人工"导演"：指定页面结构与重点，替代全自动规划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生成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llms.txt / AGENTS.md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 导航文件，作为 Agent 的"地图入口"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100" y="3276600"/>
            <a:ext cx="5334000" cy="990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2450" y="34194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528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同路线工具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450" y="3638550"/>
            <a:ext cx="211074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Google CodeWiki（2025.11）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0340" y="3638550"/>
            <a:ext cx="178498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Greptile（图感知摘要）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2450" y="3886200"/>
            <a:ext cx="172783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DeepWiki-Open（开源）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2450" y="4133850"/>
            <a:ext cx="3425190" cy="190500"/>
          </a:xfrm>
          <a:prstGeom prst="roundRect">
            <a:avLst>
              <a:gd name="adj" fmla="val 50000"/>
            </a:avLst>
          </a:prstGeom>
          <a:solidFill>
            <a:srgbClr val="F0F0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0000FF"/>
                </a:solidFill>
                <a:latin typeface="微软雅黑"/>
                <a:ea typeface="微软雅黑"/>
              </a:rPr>
              <a:t>microsoft/agent-skills deep-wiki（可自部署）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100" y="4381500"/>
            <a:ext cx="5334000" cy="80010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400" y="4467225"/>
            <a:ext cx="45720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启示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" y="4457700"/>
            <a:ext cx="45339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这是"Obsidian / LLM Wiki 思路"的工业化验证；但要记住实证结论：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自动生成打底、人工策展定稿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——手写的上下文文件效果优于纯自动生成。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5500" y="1333500"/>
            <a:ext cx="5867400" cy="514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88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生成与消费链路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8850" y="1771650"/>
            <a:ext cx="1524000" cy="5524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1847850"/>
            <a:ext cx="152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微软雅黑"/>
                <a:ea typeface="微软雅黑"/>
              </a:rPr>
              <a:t>代码仓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8850" y="2057400"/>
            <a:ext cx="1524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结构·依赖·README·测试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9100" y="1695450"/>
            <a:ext cx="3581400" cy="704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39100" y="1752600"/>
            <a:ext cx="3581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Wiki 生成管线（LLM）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2450" y="2000250"/>
            <a:ext cx="10477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72450" y="2057400"/>
            <a:ext cx="1047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仓库扫描聚类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15450" y="2000250"/>
            <a:ext cx="10477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5450" y="2057400"/>
            <a:ext cx="1047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页面规划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58450" y="2000250"/>
            <a:ext cx="10477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58450" y="2057400"/>
            <a:ext cx="1047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生成+图表+引用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62850" y="2047875"/>
            <a:ext cx="4572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39100" y="2609850"/>
            <a:ext cx="1714500" cy="4381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39100" y="2667000"/>
            <a:ext cx="1714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.devin/wiki.json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9100" y="2838450"/>
            <a:ext cx="1714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人工指定页面与重点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8991600" y="2419350"/>
            <a:ext cx="190500" cy="171450"/>
          </a:xfrm>
          <a:prstGeom prst="line">
            <a:avLst/>
          </a:prstGeom>
          <a:ln w="15875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039350" y="2609850"/>
            <a:ext cx="1581150" cy="4381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39350" y="2667000"/>
            <a:ext cx="158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PR 合并触发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9350" y="2838450"/>
            <a:ext cx="1581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Wiki 自动增量更新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10801350" y="2419350"/>
            <a:ext cx="0" cy="171450"/>
          </a:xfrm>
          <a:prstGeom prst="line">
            <a:avLst/>
          </a:prstGeom>
          <a:ln w="15875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419850" y="3276600"/>
            <a:ext cx="4819650" cy="12192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850" y="3333750"/>
            <a:ext cx="4819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Wiki 知识制品（预消化层）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1300" y="3581400"/>
            <a:ext cx="1428750" cy="781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1300" y="36766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架构页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91300" y="38862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Mermaid 架构图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1300" y="40576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组件表 + 依赖关系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15300" y="3581400"/>
            <a:ext cx="1428750" cy="781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15300" y="36766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模块页 × 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5300" y="38862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时序图 / 状态图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5300" y="40576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0000FF"/>
                </a:solidFill>
                <a:latin typeface="微软雅黑"/>
                <a:ea typeface="微软雅黑"/>
              </a:rPr>
              <a:t>每论断带 file:line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39300" y="3581400"/>
            <a:ext cx="1428750" cy="7810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9300" y="36766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导航入口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39300" y="38862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llms.txt / index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39300" y="40576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AGENTS.md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29675" y="2400300"/>
            <a:ext cx="0" cy="8572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419850" y="4762500"/>
            <a:ext cx="2286000" cy="7239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19850" y="483870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Ask Devin / Agent 问答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850" y="504825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① 先读 Wiki 拿全局图景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② 再按引用锚点定位源码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3500" y="4762500"/>
            <a:ext cx="2286000" cy="7239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53500" y="483870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新人 / 团队浏览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53500" y="504825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人和 Agent 共用同一份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可评审、可 diff、可追溯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7705725" y="4495800"/>
            <a:ext cx="428625" cy="2476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563100" y="4495800"/>
            <a:ext cx="428625" cy="2476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1.4 案例小结：三大头部案例关键信息整合（一页总览）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三条头部路线 = 三种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检索主干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的选择；共性是都配了"预消化知识层"与"现场验证"，差异只在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以谁为主干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——这直接支撑了我们"</a:t>
            </a:r>
            <a:r>
              <a:rPr sz="1400" b="1">
                <a:solidFill>
                  <a:srgbClr val="0000FF"/>
                </a:solidFill>
                <a:latin typeface="微软雅黑"/>
                <a:ea typeface="微软雅黑"/>
              </a:rPr>
              <a:t>Markdown 主干 + LSP 骨架 + 向量补充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"的选型。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第一部分 · 业界知识库应用洞察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90650"/>
            <a:ext cx="3657600" cy="323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1390650"/>
            <a:ext cx="17716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案例一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050" y="1390650"/>
            <a:ext cx="16764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Agentic Search 主干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100" y="1809750"/>
            <a:ext cx="1123950" cy="361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625" y="183832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1">
                <a:solidFill>
                  <a:srgbClr val="C00000"/>
                </a:solidFill>
                <a:latin typeface="微软雅黑"/>
                <a:ea typeface="微软雅黑"/>
              </a:rPr>
              <a:t>分层 CLAUDE.md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" y="200977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会话自动加载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" y="1809750"/>
            <a:ext cx="1123950" cy="36195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85925" y="183832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微软雅黑"/>
                <a:ea typeface="微软雅黑"/>
              </a:rPr>
              <a:t>Agent 推理循环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5925" y="200977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微软雅黑"/>
                <a:ea typeface="微软雅黑"/>
              </a:rPr>
              <a:t>搜索→阅读→编写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2750" y="1809750"/>
            <a:ext cx="1123950" cy="3619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143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62275" y="183832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1">
                <a:solidFill>
                  <a:srgbClr val="0000FF"/>
                </a:solidFill>
                <a:latin typeface="微软雅黑"/>
                <a:ea typeface="微软雅黑"/>
              </a:rPr>
              <a:t>grep/glob/read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275" y="2009775"/>
            <a:ext cx="11049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现场检索·无索引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43050" y="1990725"/>
            <a:ext cx="114300" cy="0"/>
          </a:xfrm>
          <a:prstGeom prst="line">
            <a:avLst/>
          </a:prstGeom>
          <a:ln w="15875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00350" y="1990725"/>
            <a:ext cx="133350" cy="0"/>
          </a:xfrm>
          <a:prstGeom prst="line">
            <a:avLst/>
          </a:prstGeom>
          <a:ln w="15875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04900" y="2343150"/>
            <a:ext cx="2286000" cy="3238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4425" y="2343150"/>
            <a:ext cx="22669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1">
                <a:solidFill>
                  <a:srgbClr val="000000"/>
                </a:solidFill>
                <a:latin typeface="微软雅黑"/>
                <a:ea typeface="微软雅黑"/>
              </a:rPr>
              <a:t>代码仓（实时文件系统，无索引漂移）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133725" y="2171700"/>
            <a:ext cx="381000" cy="152400"/>
          </a:xfrm>
          <a:prstGeom prst="line">
            <a:avLst/>
          </a:prstGeom>
          <a:ln w="15875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704850" y="2495550"/>
            <a:ext cx="400050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04850" y="2190750"/>
            <a:ext cx="0" cy="304800"/>
          </a:xfrm>
          <a:prstGeom prst="line">
            <a:avLst/>
          </a:prstGeom>
          <a:ln w="12700">
            <a:solidFill>
              <a:srgbClr val="C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0050" y="2705100"/>
            <a:ext cx="2476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50" b="0">
                <a:solidFill>
                  <a:srgbClr val="C00000"/>
                </a:solidFill>
                <a:latin typeface="微软雅黑"/>
                <a:ea typeface="微软雅黑"/>
              </a:rPr>
              <a:t>犯错 → 教训手写回 CLAUDE.md（拒绝向量召回）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250" y="2914650"/>
            <a:ext cx="35433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分层加载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：根文件 &lt;150 行、命令优先，模块子目录就近加载（OpenAI 主仓 </a:t>
            </a:r>
            <a:r>
              <a:rPr sz="900" b="0">
                <a:solidFill>
                  <a:srgbClr val="0000FF"/>
                </a:solidFill>
                <a:latin typeface="微软雅黑"/>
                <a:ea typeface="微软雅黑"/>
              </a:rPr>
              <a:t>88 个 AGENTS.md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放弃向量 RAG 四理由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：精确（grep 无模糊误报）· 简单（无索引维护）· 新鲜（直查文件）· 隐私（不出本机）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跨会话记忆 =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手写 Markdown 回写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官方大仓建议：补 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LSP 符号级导航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（最高价值投资）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9100" y="4914900"/>
            <a:ext cx="3657600" cy="6286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350" y="4972050"/>
            <a:ext cx="34671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启示：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知识做成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结构化 Markdown 文件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即与 Agent 零摩擦对接；记忆与约束都应可评审、可 diff。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7200" y="1390650"/>
            <a:ext cx="3657600" cy="323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1500" y="1390650"/>
            <a:ext cx="17716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案例二 Cursor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3150" y="1390650"/>
            <a:ext cx="16764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向量索引主干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7200" y="1809750"/>
            <a:ext cx="857250" cy="3619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6725" y="183832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微软雅黑"/>
                <a:ea typeface="微软雅黑"/>
              </a:rPr>
              <a:t>代码仓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6725" y="200977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650" b="0">
                <a:solidFill>
                  <a:srgbClr val="555555"/>
                </a:solidFill>
                <a:latin typeface="微软雅黑"/>
                <a:ea typeface="微软雅黑"/>
              </a:rPr>
              <a:t>每次保存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24450" y="1990725"/>
            <a:ext cx="76200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200650" y="1809750"/>
            <a:ext cx="857250" cy="361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10175" y="183832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微软雅黑"/>
                <a:ea typeface="微软雅黑"/>
              </a:rPr>
              <a:t>Merkle 增量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0175" y="200977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650" b="0">
                <a:solidFill>
                  <a:srgbClr val="555555"/>
                </a:solidFill>
                <a:latin typeface="微软雅黑"/>
                <a:ea typeface="微软雅黑"/>
              </a:rPr>
              <a:t>7.87s→525ms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57900" y="1990725"/>
            <a:ext cx="76200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134100" y="1809750"/>
            <a:ext cx="857250" cy="361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3625" y="183832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微软雅黑"/>
                <a:ea typeface="微软雅黑"/>
              </a:rPr>
              <a:t>AST+专训嵌入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3625" y="200977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650" b="0">
                <a:solidFill>
                  <a:srgbClr val="555555"/>
                </a:solidFill>
                <a:latin typeface="微软雅黑"/>
                <a:ea typeface="微软雅黑"/>
              </a:rPr>
              <a:t>tree-sitter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91350" y="1990725"/>
            <a:ext cx="76200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067550" y="1809750"/>
            <a:ext cx="857250" cy="3619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143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77075" y="183832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Turbopuffer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7075" y="2009775"/>
            <a:ext cx="838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650" b="0">
                <a:solidFill>
                  <a:srgbClr val="555555"/>
                </a:solidFill>
                <a:latin typeface="微软雅黑"/>
                <a:ea typeface="微软雅黑"/>
              </a:rPr>
              <a:t>向量+全文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67200" y="2343150"/>
            <a:ext cx="1009650" cy="3238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76725" y="2343150"/>
            <a:ext cx="9906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微软雅黑"/>
                <a:ea typeface="微软雅黑"/>
              </a:rPr>
              <a:t>提问(按意思)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91175" y="2343150"/>
            <a:ext cx="1009650" cy="3238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143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00700" y="2343150"/>
            <a:ext cx="9906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语义检索 Top-N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15150" y="2343150"/>
            <a:ext cx="1009650" cy="323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4675" y="2343150"/>
            <a:ext cx="9906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微软雅黑"/>
                <a:ea typeface="微软雅黑"/>
              </a:rPr>
              <a:t>Agentic 验证后写码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276850" y="2505075"/>
            <a:ext cx="295275" cy="0"/>
          </a:xfrm>
          <a:prstGeom prst="line">
            <a:avLst/>
          </a:prstGeom>
          <a:ln w="1397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600825" y="2505075"/>
            <a:ext cx="295275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6267450" y="2171700"/>
            <a:ext cx="1209675" cy="152400"/>
          </a:xfrm>
          <a:prstGeom prst="line">
            <a:avLst/>
          </a:prstGeom>
          <a:ln w="12700">
            <a:solidFill>
              <a:srgbClr val="0000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305300" y="2705100"/>
            <a:ext cx="3543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50" b="0">
                <a:solidFill>
                  <a:srgbClr val="555555"/>
                </a:solidFill>
                <a:latin typeface="微软雅黑"/>
                <a:ea typeface="微软雅黑"/>
              </a:rPr>
              <a:t>构建期持续增量索引（上排）+ 查询期语义召回再验证（下排）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24350" y="2914650"/>
            <a:ext cx="35433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价值窗口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：不知道符号名按"意思"找、大仓冷启动；答题准确率 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+12.5%（6.5%~23.5%）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隐私设计：只存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脱敏路径 + 向量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，源码不出本机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边界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：精确符号查询不敌 grep/LSP（getUserById ≈ getUserByEmail）；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索引保鲜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是持续负担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同路线：Copilot Blackbird（115TB / 530 亿文件）、Windsurf、Devin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7200" y="4914900"/>
            <a:ext cx="3657600" cy="6286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62450" y="4972050"/>
            <a:ext cx="34671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启示：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向量检索定位为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概念检索与冷启动的补充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，且必须与 agentic 工具叠加——不是"一次检索定胜负"。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15300" y="1390650"/>
            <a:ext cx="3657600" cy="323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1390650"/>
            <a:ext cx="17716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案例三 DeepWiki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01250" y="1390650"/>
            <a:ext cx="16764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自动生成 Wiki（预消化层）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15300" y="1809750"/>
            <a:ext cx="952500" cy="3619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24825" y="1838325"/>
            <a:ext cx="93345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微软雅黑"/>
                <a:ea typeface="微软雅黑"/>
              </a:rPr>
              <a:t>代码仓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24825" y="2009775"/>
            <a:ext cx="93345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结构·依赖·文档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01150" y="1809750"/>
            <a:ext cx="1238250" cy="361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10675" y="1838325"/>
            <a:ext cx="1219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微软雅黑"/>
                <a:ea typeface="微软雅黑"/>
              </a:rPr>
              <a:t>LLM 生成管线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0675" y="2009775"/>
            <a:ext cx="12192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扫描·规划·生成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572750" y="1809750"/>
            <a:ext cx="1200150" cy="361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143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582275" y="1838325"/>
            <a:ext cx="11811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C00000"/>
                </a:solidFill>
                <a:latin typeface="微软雅黑"/>
                <a:ea typeface="微软雅黑"/>
              </a:rPr>
              <a:t>Wiki 制品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82275" y="2009775"/>
            <a:ext cx="1181100" cy="1333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架构图+file:line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67800" y="1990725"/>
            <a:ext cx="114300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439400" y="1990725"/>
            <a:ext cx="114300" cy="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8115300" y="2343150"/>
            <a:ext cx="1714500" cy="3238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143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24825" y="2343150"/>
            <a:ext cx="16954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FF"/>
                </a:solidFill>
                <a:latin typeface="微软雅黑"/>
                <a:ea typeface="微软雅黑"/>
              </a:rPr>
              <a:t>PR 合并 → Wiki 自动更新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058400" y="2343150"/>
            <a:ext cx="1714500" cy="3238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067925" y="2343150"/>
            <a:ext cx="16954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1">
                <a:solidFill>
                  <a:srgbClr val="000000"/>
                </a:solidFill>
                <a:latin typeface="微软雅黑"/>
                <a:ea typeface="微软雅黑"/>
              </a:rPr>
              <a:t>Agent 先读 Wiki→再定位源码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8972550" y="2190750"/>
            <a:ext cx="571500" cy="133350"/>
          </a:xfrm>
          <a:prstGeom prst="line">
            <a:avLst/>
          </a:prstGeom>
          <a:ln w="12700">
            <a:solidFill>
              <a:srgbClr val="0000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0934700" y="2171700"/>
            <a:ext cx="238125" cy="152400"/>
          </a:xfrm>
          <a:prstGeom prst="line">
            <a:avLst/>
          </a:prstGeom>
          <a:ln w="1397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153400" y="2705100"/>
            <a:ext cx="35433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750" b="0">
                <a:solidFill>
                  <a:srgbClr val="555555"/>
                </a:solidFill>
                <a:latin typeface="微软雅黑"/>
                <a:ea typeface="微软雅黑"/>
              </a:rPr>
              <a:t>人和 Agent 共用同一份，可评审、可 diff、可追溯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72450" y="2914650"/>
            <a:ext cx="35433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自动生成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架构图（Mermaid）、组件表、时序图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；论断带 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file:line 锚点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可溯源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PR 合并自动更新；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.devin/wiki.json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 人工"导演"页面结构与重点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生成 </a:t>
            </a:r>
            <a:r>
              <a:rPr sz="900" b="1">
                <a:solidFill>
                  <a:srgbClr val="000000"/>
                </a:solidFill>
                <a:latin typeface="微软雅黑"/>
                <a:ea typeface="微软雅黑"/>
              </a:rPr>
              <a:t>llms.txt / AGENTS.md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 作为 Agent 地图入口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同路线：Google CodeWiki、Greptile、microsoft deep-wiki skill（可自部署）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15300" y="4914900"/>
            <a:ext cx="3657600" cy="6286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10550" y="4972050"/>
            <a:ext cx="346710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启示：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"预消化"知识层的工业化验证；实证结论是</a:t>
            </a:r>
            <a:r>
              <a:rPr sz="900" b="1">
                <a:solidFill>
                  <a:srgbClr val="0000FF"/>
                </a:solidFill>
                <a:latin typeface="微软雅黑"/>
                <a:ea typeface="微软雅黑"/>
              </a:rPr>
              <a:t>自动生成打底、人工策展定稿</a:t>
            </a:r>
            <a:r>
              <a:rPr sz="900" b="0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19100" y="5676900"/>
            <a:ext cx="11353800" cy="59055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33400" y="5762625"/>
            <a:ext cx="74295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共同启示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71600" y="5753100"/>
            <a:ext cx="1026795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微软雅黑"/>
                <a:ea typeface="微软雅黑"/>
              </a:rPr>
              <a:t>三家都是"主干 + 补充"的组合拳：</a:t>
            </a: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策展知识层（Markdown）+ 现场检索（agentic）+ 语义/结构索引按需叠加</a:t>
            </a:r>
            <a:r>
              <a:rPr sz="1100" b="0">
                <a:solidFill>
                  <a:srgbClr val="000000"/>
                </a:solidFill>
                <a:latin typeface="微软雅黑"/>
                <a:ea typeface="微软雅黑"/>
              </a:rPr>
              <a:t>；且都把</a:t>
            </a:r>
            <a:r>
              <a:rPr sz="1100" b="1">
                <a:solidFill>
                  <a:srgbClr val="000000"/>
                </a:solidFill>
                <a:latin typeface="微软雅黑"/>
                <a:ea typeface="微软雅黑"/>
              </a:rPr>
              <a:t>知识与代码同步保鲜</a:t>
            </a:r>
            <a:r>
              <a:rPr sz="1100" b="0">
                <a:solidFill>
                  <a:srgbClr val="000000"/>
                </a:solidFill>
                <a:latin typeface="微软雅黑"/>
                <a:ea typeface="微软雅黑"/>
              </a:rPr>
              <a:t>当作核心工程问题——没有任何头部工具用单一技术路线。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2.1 方法一：LLM Wiki（Obsidian / Markdown 知识库）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495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4953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一句话原理：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知识写成互相链接的 Markdown + 一个目录页，Agent 像人查"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带目录的手册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"——先读目录、再读相关页；知识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编译一次、持续保鲜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，而非每次查询临时检索合成。（Karpathy 2026.04 规范化，单 gist 5000+ star）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第二部分 · 业界知识库方法论及技术洞察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33500"/>
            <a:ext cx="5810250" cy="514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三层架构 + 三个工作流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2450" y="1695450"/>
            <a:ext cx="5543550" cy="5905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526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③ Schema 层（CLAUDE.md / AGENTS.md）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62150"/>
            <a:ext cx="5334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定义 wiki 结构约定、页面格式、入库/查询/巡检工作流 —— 把 LLM 变成"守纪律的维基管理员"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450" y="2419350"/>
            <a:ext cx="5543550" cy="14478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765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② Wiki 层（LLM 维护的知识页，人只读）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5100" y="2724150"/>
            <a:ext cx="1238250" cy="419100"/>
          </a:xfrm>
          <a:prstGeom prst="roundRect">
            <a:avLst>
              <a:gd name="adj" fmla="val 12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5100" y="278130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index.md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5100" y="29527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微软雅黑"/>
                <a:ea typeface="微软雅黑"/>
              </a:rPr>
              <a:t>总目录：链接+一句话摘要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950" y="2743200"/>
            <a:ext cx="12382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950" y="2790825"/>
            <a:ext cx="1238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概念页 / 术语页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950" y="3238500"/>
            <a:ext cx="12382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3286125"/>
            <a:ext cx="1238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实体页 / 模块页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5350" y="2743200"/>
            <a:ext cx="12382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5350" y="2790825"/>
            <a:ext cx="1238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决策页(ADR)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5350" y="3238500"/>
            <a:ext cx="12382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5350" y="3286125"/>
            <a:ext cx="1238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综述 / 对比 / 坑页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05100" y="3276600"/>
            <a:ext cx="1238250" cy="266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5100" y="3324225"/>
            <a:ext cx="1238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log.md 时间线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81200" y="2895600"/>
            <a:ext cx="704850" cy="19050"/>
          </a:xfrm>
          <a:prstGeom prst="line">
            <a:avLst/>
          </a:prstGeom>
          <a:ln w="1270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962400" y="2895600"/>
            <a:ext cx="742950" cy="19050"/>
          </a:xfrm>
          <a:prstGeom prst="line">
            <a:avLst/>
          </a:prstGeom>
          <a:ln w="1270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81200" y="3371850"/>
            <a:ext cx="704850" cy="0"/>
          </a:xfrm>
          <a:prstGeom prst="line">
            <a:avLst/>
          </a:prstGeom>
          <a:ln w="1270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962400" y="3371850"/>
            <a:ext cx="742950" cy="19050"/>
          </a:xfrm>
          <a:prstGeom prst="line">
            <a:avLst/>
          </a:prstGeom>
          <a:ln w="1270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2450" y="4019550"/>
            <a:ext cx="5543550" cy="533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0767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00"/>
                </a:solidFill>
                <a:latin typeface="微软雅黑"/>
                <a:ea typeface="微软雅黑"/>
              </a:rPr>
              <a:t>① 原始素材层（不可变）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28625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55555"/>
                </a:solidFill>
                <a:latin typeface="微软雅黑"/>
                <a:ea typeface="微软雅黑"/>
              </a:rPr>
              <a:t>设计文档 · 会议纪要 · 历史 issue · 代码注释 · 外部资料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450" y="4705350"/>
            <a:ext cx="173355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450" y="478155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入库 Ingest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450" y="4991100"/>
            <a:ext cx="1733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新素材→更新多个页面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冲突时标注矛盾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57450" y="4705350"/>
            <a:ext cx="173355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7450" y="478155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查询 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7450" y="4991100"/>
            <a:ext cx="1733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读 index → 读相关页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两跳可溯源到原始素材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62450" y="4705350"/>
            <a:ext cx="173355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62450" y="4781550"/>
            <a:ext cx="17335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巡检 Lint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2450" y="4991100"/>
            <a:ext cx="1733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死链 / 不一致 / 矛盾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定期健康检查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81750" y="1333500"/>
            <a:ext cx="5391150" cy="9906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15100" y="14763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8450" y="14097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5100" y="1676400"/>
            <a:ext cx="5124450" cy="590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业务背景、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架构决策（ADR）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、编码约束、模块职责、坑清单、术语表——所有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"需要人评审的高价值知识"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知识量在几百页 / 约十万 token 内导航最优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81750" y="2438400"/>
            <a:ext cx="2628900" cy="1600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5100" y="253365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7A33"/>
                </a:solidFill>
                <a:latin typeface="微软雅黑"/>
                <a:ea typeface="微软雅黑"/>
              </a:rPr>
              <a:t>✓ 优势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5100" y="2762250"/>
            <a:ext cx="238125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零基础设施（git 里的文件）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人与 Agent 读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同一份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，可评审/可 diff/可溯源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与 agentic search 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零摩擦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可解释性最强，改文件即更新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0" y="2438400"/>
            <a:ext cx="2628900" cy="16002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77350" y="253365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</a:rPr>
              <a:t>△ 劣势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7350" y="2762250"/>
            <a:ext cx="238125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需人工策展纪律，有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腐化风险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不擅长"谁调用谁"等结构性查询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几千页后目录导航吃力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没写进去的它不知道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81750" y="4152900"/>
            <a:ext cx="5391150" cy="1447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15100" y="42957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48450" y="42291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代表工具 / 实践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15100" y="4514850"/>
            <a:ext cx="1813560" cy="190500"/>
          </a:xfrm>
          <a:prstGeom prst="roundRect">
            <a:avLst>
              <a:gd name="adj" fmla="val 50000"/>
            </a:avLst>
          </a:prstGeom>
          <a:solidFill>
            <a:srgbClr val="F0F0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0000FF"/>
                </a:solidFill>
                <a:latin typeface="微软雅黑"/>
                <a:ea typeface="微软雅黑"/>
              </a:rPr>
              <a:t>Karpathy llm-wiki 模式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85810" y="4514850"/>
            <a:ext cx="212217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Obsidian + Obsidian Skills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15100" y="4762500"/>
            <a:ext cx="160210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DeepWiki / CodeWiki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74355" y="4762500"/>
            <a:ext cx="204787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microsoft deep-wiki skill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15100" y="5010150"/>
            <a:ext cx="211074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AGENTS.md / CLAUDE.md 分层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82990" y="5010150"/>
            <a:ext cx="194500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OpenSpec specs（活规格）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2.2 方法二：RAG 知识图谱（GraphRAG）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一句话原理：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知识拆成"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节点（实体）+ 边（关系）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"，查询时不是"找相似文本"而是"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顺着边走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"（多跳遍历返回连通子图）。代码场景必须区分两个亚种：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确定性代码结构图谱 vs LLM 抽取的语义图谱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，成本与可靠性差别巨大。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第二部分 · 业界知识库方法论及技术洞察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90650"/>
            <a:ext cx="5810250" cy="5086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5335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68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原理示意：图遍历 vs 相似检索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7526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查询："修改 RateLimiter 接口，影响面有多大？"</a:t>
            </a:r>
          </a:p>
        </p:txBody>
      </p:sp>
      <p:sp>
        <p:nvSpPr>
          <p:cNvPr id="13" name="Oval 12"/>
          <p:cNvSpPr/>
          <p:nvPr/>
        </p:nvSpPr>
        <p:spPr>
          <a:xfrm>
            <a:off x="647700" y="2133600"/>
            <a:ext cx="1333500" cy="43815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2266950"/>
            <a:ext cx="133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RateLimiter</a:t>
            </a:r>
          </a:p>
        </p:txBody>
      </p:sp>
      <p:sp>
        <p:nvSpPr>
          <p:cNvPr id="15" name="Oval 14"/>
          <p:cNvSpPr/>
          <p:nvPr/>
        </p:nvSpPr>
        <p:spPr>
          <a:xfrm>
            <a:off x="2647950" y="2000250"/>
            <a:ext cx="1181100" cy="400050"/>
          </a:xfrm>
          <a:prstGeom prst="ellipse">
            <a:avLst/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7950" y="2114550"/>
            <a:ext cx="11811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FF"/>
                </a:solidFill>
                <a:latin typeface="微软雅黑"/>
                <a:ea typeface="微软雅黑"/>
              </a:rPr>
              <a:t>GatewayMod</a:t>
            </a:r>
          </a:p>
        </p:txBody>
      </p:sp>
      <p:sp>
        <p:nvSpPr>
          <p:cNvPr id="17" name="Oval 16"/>
          <p:cNvSpPr/>
          <p:nvPr/>
        </p:nvSpPr>
        <p:spPr>
          <a:xfrm>
            <a:off x="2647950" y="2571750"/>
            <a:ext cx="1181100" cy="400050"/>
          </a:xfrm>
          <a:prstGeom prst="ellipse">
            <a:avLst/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7950" y="2686050"/>
            <a:ext cx="11811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FF"/>
                </a:solidFill>
                <a:latin typeface="微软雅黑"/>
                <a:ea typeface="微软雅黑"/>
              </a:rPr>
              <a:t>SessionMgr</a:t>
            </a:r>
          </a:p>
        </p:txBody>
      </p:sp>
      <p:sp>
        <p:nvSpPr>
          <p:cNvPr id="19" name="Oval 18"/>
          <p:cNvSpPr/>
          <p:nvPr/>
        </p:nvSpPr>
        <p:spPr>
          <a:xfrm>
            <a:off x="4552950" y="2000250"/>
            <a:ext cx="1181100" cy="4000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2950" y="2114550"/>
            <a:ext cx="11811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配置文件 conf</a:t>
            </a:r>
          </a:p>
        </p:txBody>
      </p:sp>
      <p:sp>
        <p:nvSpPr>
          <p:cNvPr id="21" name="Oval 20"/>
          <p:cNvSpPr/>
          <p:nvPr/>
        </p:nvSpPr>
        <p:spPr>
          <a:xfrm>
            <a:off x="4552950" y="2571750"/>
            <a:ext cx="1181100" cy="4000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2950" y="2686050"/>
            <a:ext cx="11811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决策 ADR-017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981200" y="2200275"/>
            <a:ext cx="647700" cy="762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00250" y="2000250"/>
            <a:ext cx="857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C00000"/>
                </a:solidFill>
                <a:latin typeface="微软雅黑"/>
                <a:ea typeface="微软雅黑"/>
              </a:rPr>
              <a:t>被调用 calls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81200" y="2438400"/>
            <a:ext cx="647700" cy="26670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00250" y="2628900"/>
            <a:ext cx="571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C00000"/>
                </a:solidFill>
                <a:latin typeface="微软雅黑"/>
                <a:ea typeface="微软雅黑"/>
              </a:rPr>
              <a:t>被依赖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29050" y="2200275"/>
            <a:ext cx="704850" cy="0"/>
          </a:xfrm>
          <a:prstGeom prst="line">
            <a:avLst/>
          </a:prstGeom>
          <a:ln w="15875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00500" y="2019300"/>
            <a:ext cx="381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引用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29050" y="2771775"/>
            <a:ext cx="704850" cy="0"/>
          </a:xfrm>
          <a:prstGeom prst="line">
            <a:avLst/>
          </a:prstGeom>
          <a:ln w="15875">
            <a:solidFill>
              <a:srgbClr val="6666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05250" y="259080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666666"/>
                </a:solidFill>
                <a:latin typeface="微软雅黑"/>
                <a:ea typeface="微软雅黑"/>
              </a:rPr>
              <a:t>受约束于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" y="3086100"/>
            <a:ext cx="54292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→ 返回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连通子图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（路径即证据），而非"听起来相关"的文档列表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2450" y="3371850"/>
            <a:ext cx="2667000" cy="22098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2450" y="3448050"/>
            <a:ext cx="2667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亚种 A：代码结构图谱（确定性）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676650"/>
            <a:ext cx="24193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节点=文件/类/函数；边=调用/继承/包含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tree-sitter / 编译器解析，</a:t>
            </a:r>
            <a:r>
              <a:rPr sz="950" b="0">
                <a:solidFill>
                  <a:srgbClr val="0000FF"/>
                </a:solidFill>
                <a:latin typeface="微软雅黑"/>
                <a:ea typeface="微软雅黑"/>
              </a:rPr>
              <a:t>精确无幻觉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C/C++ 注意：宏/模板/函数指针场景下，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最优解是编译器级 clangd/LSP，而非自建图库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工具：code-graph-rag(Memgraph)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GraphRAG-MCP(本地零LLM成本)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Kythe(Google) / Glean(Meta) / Sourcegraph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09950" y="3371850"/>
            <a:ext cx="2667000" cy="22098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9950" y="3448050"/>
            <a:ext cx="2667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亚种 B：语义知识图谱（LLM 抽取）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3300" y="3676650"/>
            <a:ext cx="241935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LLM 从文档/对话抽取实体关系入图库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支持社区检测+分层摘要回答全局性问题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代价：schema 设计 + 抽取管线 + 图库运维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+ 保鲜，且抽取质量需人工复核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工具：Microsoft GraphRAG / Neo4j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Graphiti/Zep(时序图谱) / Cognee(ECL)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Youtu-GraphRAG(schema引导,ICLR'26)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1750" y="1390650"/>
            <a:ext cx="5391150" cy="10477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15100" y="15335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48450" y="14668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5100" y="1733550"/>
            <a:ext cx="512445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影响面分析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："改这个接口会波及哪些下游？"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跨模块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调用链追踪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、多跳推理（需求变更 → 约束来源）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需要审计 / 溯源的合规场景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1750" y="2552700"/>
            <a:ext cx="2628900" cy="17145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5100" y="264795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7A33"/>
                </a:solidFill>
                <a:latin typeface="微软雅黑"/>
                <a:ea typeface="微软雅黑"/>
              </a:rPr>
              <a:t>✓ 优势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5100" y="2876550"/>
            <a:ext cx="238125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关系查询与多跳遍历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是其他方案做不到的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结果可解释：路径即证据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知识越加越"密"而非越加越"吵"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2552700"/>
            <a:ext cx="2628900" cy="17145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7350" y="264795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</a:rPr>
              <a:t>△ 劣势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7350" y="2876550"/>
            <a:ext cx="238125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三者中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建设/维护成本最高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LLM 抽取有噪声与幻觉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查询需生成 Cypher / 专用工具，集成复杂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仅当关系类查询是高频刚需时 ROI 才成立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81750" y="4400550"/>
            <a:ext cx="5391150" cy="87630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96050" y="4486275"/>
            <a:ext cx="45720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判断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8500" y="4476750"/>
            <a:ext cx="45910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C/C++ 项目的"图谱需求"应优先由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clangd/LSP（编译器级、零抽取成本）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满足；通用语义图谱除非有高频多跳查询刚需，否则暂缓。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2.3 方法三：向量数据库（Embedding RAG）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一句话原理：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文档/代码切块 → 每块转成高维向量（"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语义指纹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"）入库；查询也转成向量，找"指纹最接近"的块。本质是"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按意思找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"而非"按字面找"——搜"鉴权"能命中只写了 login validation 的代码。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第二部分 · 业界知识库方法论及技术洞察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90650"/>
            <a:ext cx="5810250" cy="5086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2450" y="15335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68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原理流程示意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1752600"/>
            <a:ext cx="3810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① 索引期（离线，需持续保鲜）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50" y="19621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20193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文档 / 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22098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docs·specs·源码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71650" y="2209800"/>
            <a:ext cx="1905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62150" y="19621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2150" y="20193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切块 Chunk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2150" y="22098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按段落/AST切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1350" y="2209800"/>
            <a:ext cx="1905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71850" y="19621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1850" y="20193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Embedding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1850" y="22098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块 → 高维向量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91050" y="2209800"/>
            <a:ext cx="1905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81550" y="19621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1550" y="20193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向量库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1550" y="22098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HNSW 近邻索引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50" y="2628900"/>
            <a:ext cx="3810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② 查询期（在线）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2450" y="28384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2450" y="28956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450" y="30861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"哪里处理鉴权？"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71650" y="3086100"/>
            <a:ext cx="19050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962150" y="28384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2150" y="28956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向量化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2150" y="30861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同一 embedding 模型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181350" y="3086100"/>
            <a:ext cx="19050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371850" y="28384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71850" y="28956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近邻检索 Top-K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71850" y="30861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余弦相似度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91050" y="3086100"/>
            <a:ext cx="19050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781550" y="2838450"/>
            <a:ext cx="1219200" cy="4953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81550" y="2895600"/>
            <a:ext cx="121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注入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1550" y="308610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给 LLM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552950" y="2457450"/>
            <a:ext cx="838200" cy="361950"/>
          </a:xfrm>
          <a:prstGeom prst="line">
            <a:avLst/>
          </a:prstGeom>
          <a:ln w="15875">
            <a:solidFill>
              <a:srgbClr val="0000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52450" y="3562350"/>
            <a:ext cx="5543550" cy="7048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63855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"语义指纹"直觉：意思相近 → 向量空间中距离近</a:t>
            </a:r>
          </a:p>
        </p:txBody>
      </p:sp>
      <p:sp>
        <p:nvSpPr>
          <p:cNvPr id="47" name="Oval 46"/>
          <p:cNvSpPr/>
          <p:nvPr/>
        </p:nvSpPr>
        <p:spPr>
          <a:xfrm>
            <a:off x="1219200" y="3905250"/>
            <a:ext cx="85725" cy="85725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575" y="40576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000FF"/>
                </a:solidFill>
                <a:latin typeface="微软雅黑"/>
                <a:ea typeface="微软雅黑"/>
              </a:rPr>
              <a:t>鉴权 auth</a:t>
            </a:r>
          </a:p>
        </p:txBody>
      </p:sp>
      <p:sp>
        <p:nvSpPr>
          <p:cNvPr id="49" name="Oval 48"/>
          <p:cNvSpPr/>
          <p:nvPr/>
        </p:nvSpPr>
        <p:spPr>
          <a:xfrm>
            <a:off x="2457450" y="3905250"/>
            <a:ext cx="85725" cy="85725"/>
          </a:xfrm>
          <a:prstGeom prst="ellipse">
            <a:avLst/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8825" y="40576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000FF"/>
                </a:solidFill>
                <a:latin typeface="微软雅黑"/>
                <a:ea typeface="微软雅黑"/>
              </a:rPr>
              <a:t>login validation</a:t>
            </a:r>
          </a:p>
        </p:txBody>
      </p:sp>
      <p:sp>
        <p:nvSpPr>
          <p:cNvPr id="51" name="Oval 50"/>
          <p:cNvSpPr/>
          <p:nvPr/>
        </p:nvSpPr>
        <p:spPr>
          <a:xfrm>
            <a:off x="3981450" y="3905250"/>
            <a:ext cx="85725" cy="85725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52825" y="40576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内存池 allocator</a:t>
            </a:r>
          </a:p>
        </p:txBody>
      </p:sp>
      <p:sp>
        <p:nvSpPr>
          <p:cNvPr id="53" name="Oval 52"/>
          <p:cNvSpPr/>
          <p:nvPr/>
        </p:nvSpPr>
        <p:spPr>
          <a:xfrm>
            <a:off x="5314950" y="3905250"/>
            <a:ext cx="85725" cy="85725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86325" y="40576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日志 log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333500" y="3943350"/>
            <a:ext cx="1104900" cy="0"/>
          </a:xfrm>
          <a:prstGeom prst="line">
            <a:avLst/>
          </a:prstGeom>
          <a:ln w="12700">
            <a:solidFill>
              <a:srgbClr val="0000F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52450" y="4419600"/>
            <a:ext cx="5543550" cy="9906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44958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典型失效模式（代码场景）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705350"/>
            <a:ext cx="52959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333333"/>
                </a:solidFill>
                <a:latin typeface="微软雅黑"/>
                <a:ea typeface="微软雅黑"/>
              </a:rPr>
              <a:t>精确符号查询被"语义相邻"干扰：getUserById ≈ getUserByEmail ≈ getUserByName（grep/LSP 秒杀）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00" b="0">
                <a:solidFill>
                  <a:srgbClr val="333333"/>
                </a:solidFill>
                <a:latin typeface="微软雅黑"/>
                <a:ea typeface="微软雅黑"/>
              </a:rPr>
              <a:t>索引漂移：代码每次 push 都在变，重嵌入不及时 → 检索结果"说谎"；检索黑盒，坏结果难调试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81750" y="1390650"/>
            <a:ext cx="5391150" cy="106680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15100" y="15335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48450" y="14668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5100" y="1733550"/>
            <a:ext cx="51244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不知道确切符号名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的概念性检索；spec 术语与实现术语不一致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超大规模陌生仓库</a:t>
            </a: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冷启动定位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5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海量非代码知识（历史 issue、评审记录、聊天记录）检索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81750" y="2571750"/>
            <a:ext cx="2628900" cy="15049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15100" y="266700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7A33"/>
                </a:solidFill>
                <a:latin typeface="微软雅黑"/>
                <a:ea typeface="微软雅黑"/>
              </a:rPr>
              <a:t>✓ 优势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15100" y="2895600"/>
            <a:ext cx="23812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海量异构内容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伸缩性最好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（百万级块）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建库全自动，无需人工策展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模糊 / 跨术语查询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独一档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44000" y="2571750"/>
            <a:ext cx="2628900" cy="15049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77350" y="2667000"/>
            <a:ext cx="2286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</a:rPr>
              <a:t>△ 劣势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77350" y="2895600"/>
            <a:ext cx="2381250" cy="1123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代码检索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精度不足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索引保鲜是持续负担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黑盒难调试；有基础设施成本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私有仓需评估代码出境安全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81750" y="4191000"/>
            <a:ext cx="5391150" cy="1409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15100" y="43338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48450" y="42672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代表工具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515100" y="4552950"/>
            <a:ext cx="1304925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Milvus / Zilliz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877175" y="4552950"/>
            <a:ext cx="63627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Qdrant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570595" y="4552950"/>
            <a:ext cx="78486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Pinecone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412605" y="4552950"/>
            <a:ext cx="2099310" cy="19050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Turbopuffer（Cursor 后端）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515100" y="4800600"/>
            <a:ext cx="1790700" cy="190500"/>
          </a:xfrm>
          <a:prstGeom prst="roundRect">
            <a:avLst>
              <a:gd name="adj" fmla="val 50000"/>
            </a:avLst>
          </a:prstGeom>
          <a:solidFill>
            <a:srgbClr val="F0F0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0000FF"/>
                </a:solidFill>
                <a:latin typeface="微软雅黑"/>
                <a:ea typeface="微软雅黑"/>
              </a:rPr>
              <a:t>sqlite-vec（本地轻量）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62950" y="4800600"/>
            <a:ext cx="2099310" cy="190500"/>
          </a:xfrm>
          <a:prstGeom prst="roundRect">
            <a:avLst>
              <a:gd name="adj" fmla="val 50000"/>
            </a:avLst>
          </a:prstGeom>
          <a:solidFill>
            <a:srgbClr val="F0F0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0">
                <a:solidFill>
                  <a:srgbClr val="0000FF"/>
                </a:solidFill>
                <a:latin typeface="微软雅黑"/>
                <a:ea typeface="微软雅黑"/>
              </a:rPr>
              <a:t>claude-context（MCP 插件）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5100" y="5314950"/>
            <a:ext cx="512445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最佳实践：BM25 + 向量 + 重排器（reranker）混合检索，以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MCP 插件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形式供 Agent 按需调用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2.4 三类方案横向对比：回答不同的问题，不构成竞争关系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Wiki 管"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意图与约束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"，图谱管"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关系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"，向量管"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模糊找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"；此外还有两个隐藏成员——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Agentic Search（现场检索主干）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 与 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LSP/编译器符号索引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（C/C++ 结构层最优解），完整拼图是五者分层组合。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第二部分 · 业界知识库方法论及技术洞察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9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9100" y="1428750"/>
          <a:ext cx="11353800" cy="1905000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1123950"/>
                <a:gridCol w="2152650"/>
                <a:gridCol w="2152650"/>
                <a:gridCol w="1905000"/>
                <a:gridCol w="2057400"/>
                <a:gridCol w="1962150"/>
              </a:tblGrid>
              <a:tr h="381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66675" marR="38100" marT="28575" marB="190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LLM Wiki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0">
                          <a:solidFill>
                            <a:srgbClr val="666666"/>
                          </a:solidFill>
                          <a:latin typeface="微软雅黑"/>
                          <a:ea typeface="微软雅黑"/>
                        </a:rPr>
                        <a:t>Markdown 知识库</a:t>
                      </a:r>
                    </a:p>
                  </a:txBody>
                  <a:tcPr marL="66675" marR="38100" marT="28575" marB="190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RAG 知识图谱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0">
                          <a:solidFill>
                            <a:srgbClr val="666666"/>
                          </a:solidFill>
                          <a:latin typeface="微软雅黑"/>
                          <a:ea typeface="微软雅黑"/>
                        </a:rPr>
                        <a:t>节点+边+遍历</a:t>
                      </a:r>
                    </a:p>
                  </a:txBody>
                  <a:tcPr marL="66675" marR="38100" marT="28575" marB="190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向量数据库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0">
                          <a:solidFill>
                            <a:srgbClr val="666666"/>
                          </a:solidFill>
                          <a:latin typeface="微软雅黑"/>
                          <a:ea typeface="微软雅黑"/>
                        </a:rPr>
                        <a:t>Embedding 近邻</a:t>
                      </a:r>
                    </a:p>
                  </a:txBody>
                  <a:tcPr marL="66675" marR="38100" marT="28575" marB="1905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代码图谱 / LSP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0">
                          <a:solidFill>
                            <a:srgbClr val="666666"/>
                          </a:solidFill>
                          <a:latin typeface="微软雅黑"/>
                          <a:ea typeface="微软雅黑"/>
                        </a:rPr>
                        <a:t>clangd·Kythe·Glean</a:t>
                      </a:r>
                    </a:p>
                  </a:txBody>
                  <a:tcPr marL="66675" marR="38100" marT="28575" marB="19050" anchor="ctr">
                    <a:solidFill>
                      <a:srgbClr val="FF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Agentic Search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0">
                          <a:solidFill>
                            <a:srgbClr val="666666"/>
                          </a:solidFill>
                          <a:latin typeface="微软雅黑"/>
                          <a:ea typeface="微软雅黑"/>
                        </a:rPr>
                        <a:t>grep/read 现场检索</a:t>
                      </a:r>
                    </a:p>
                  </a:txBody>
                  <a:tcPr marL="66675" marR="38100" marT="28575" marB="19050" anchor="ctr">
                    <a:solidFill>
                      <a:srgbClr val="FFF7F7"/>
                    </a:solidFill>
                  </a:tcPr>
                </a:tc>
              </a:tr>
              <a:tr h="2857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模块的设计意图 / 约束是什么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 和 B 是什么关系、影响面多大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哪里讨论过这个概念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谁定义 / 引用了这个符号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现在代码到底是什么样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精确性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高（人审过）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中（LLM 抽取有噪声）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低~中（模糊）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极高（编译器级）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极高（实时）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建设成本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低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高（schema+管线+运维）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低(clangd 现成)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零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维护成本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中（需策展纪律）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高（保鲜困难）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中（持续重嵌入）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低（跟随编译）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零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可解释/可评审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7A33"/>
                          </a:solidFill>
                          <a:latin typeface="微软雅黑"/>
                          <a:ea typeface="微软雅黑"/>
                        </a:rPr>
                        <a:t>最强（可 diff）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强（路径即证据）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B45309"/>
                          </a:solidFill>
                          <a:latin typeface="微软雅黑"/>
                          <a:ea typeface="微软雅黑"/>
                        </a:rPr>
                        <a:t>弱（黑盒）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强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强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Claude Code 集成</a:t>
                      </a:r>
                    </a:p>
                  </a:txBody>
                  <a:tcPr marL="66675" marR="38100" marT="28575" marB="19050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</a:rPr>
                        <a:t>原生（就是读文件）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 MCP（自建）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 MCP（插件）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</a:rPr>
                        <a:t>需 MCP（现成）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1050" b="1">
                          <a:solidFill>
                            <a:srgbClr val="0000FF"/>
                          </a:solidFill>
                          <a:latin typeface="微软雅黑"/>
                          <a:ea typeface="微软雅黑"/>
                        </a:rPr>
                        <a:t>原生</a:t>
                      </a:r>
                    </a:p>
                  </a:txBody>
                  <a:tcPr marL="66675" marR="38100" marT="28575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9100" y="3543300"/>
            <a:ext cx="7010400" cy="1676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2450" y="36861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95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一次编码任务中的分工示意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2450" y="3943350"/>
            <a:ext cx="1504950" cy="704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450" y="4019550"/>
            <a:ext cx="1504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① 读 Wiki / 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229100"/>
            <a:ext cx="1390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拿业务背景·架构意图·编码红线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4295775"/>
            <a:ext cx="17145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28850" y="3943350"/>
            <a:ext cx="1504950" cy="7048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5875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8850" y="4019550"/>
            <a:ext cx="1504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② 概念定位(可选)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229100"/>
            <a:ext cx="1390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向量检索：不知道名字时按"意思"找入口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33800" y="4295775"/>
            <a:ext cx="17145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05250" y="3943350"/>
            <a:ext cx="1504950" cy="7048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5250" y="4019550"/>
            <a:ext cx="1504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③ 结构确认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62400" y="4229100"/>
            <a:ext cx="1390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LSP/图谱：定义·引用·调用链·影响面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0200" y="4295775"/>
            <a:ext cx="17145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581650" y="3943350"/>
            <a:ext cx="1504950" cy="70485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1650" y="4019550"/>
            <a:ext cx="1504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④ 现场验证+写码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8800" y="4229100"/>
            <a:ext cx="13906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grep/read 复核事实后落笔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50" y="480060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0">
                <a:solidFill>
                  <a:srgbClr val="555555"/>
                </a:solidFill>
                <a:latin typeface="微软雅黑"/>
                <a:ea typeface="微软雅黑"/>
              </a:rPr>
              <a:t>没有任何头部工具用单一路线 —— 差异只在"以谁为主干"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1900" y="3543300"/>
            <a:ext cx="4191000" cy="16764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15250" y="3657600"/>
            <a:ext cx="571500" cy="20955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选型口诀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5250" y="3962400"/>
            <a:ext cx="3924300" cy="1181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高价值知识 →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写成 Markdown（人审）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结构关系（C/C++）→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clangd/LSP，别自建图库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模糊概念检索 → </a:t>
            </a: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向量作 MCP 插件，痛点驱动再上</a:t>
            </a:r>
          </a:p>
          <a:p>
            <a:pPr algn="l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</a:rPr>
              <a:t>语义知识图谱 → 仅当多跳关系查询成高频刚需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3.1 项目知识库落地思路：目标架构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三层混合、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Markdown 为主干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——宪法层（每会话必加载）+ 知识层（按需导航）+ 结构层（clangd MCP），向量检索作为痛点驱动的可选补充；对现有 CLAUDE.md / skills / specs / docs 存量资产是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组织化升级而非推倒重来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第三部分 · 项目知识库落地思路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390650"/>
            <a:ext cx="6667500" cy="5086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71750" y="1485900"/>
            <a:ext cx="2476500" cy="4191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1750" y="1524000"/>
            <a:ext cx="247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Claude Code + OpenSpec 工作流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750" y="1714500"/>
            <a:ext cx="2476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</a:rPr>
              <a:t>/opsx:propose → apply → archive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2057400"/>
            <a:ext cx="6362700" cy="7429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50" y="2095500"/>
            <a:ext cx="609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宪法层｜每次会话自动加载（每文件 &lt;150 行）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850" y="2305050"/>
            <a:ext cx="19431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34315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根 CLAUDE.md / AGENTS.md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51460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命令·硬约束·检索协议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2250" y="2305050"/>
            <a:ext cx="19431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2250" y="234315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模块级子 CLAUDE.md ×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2250" y="251460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局部约定，就近加载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19650" y="2305050"/>
            <a:ext cx="19431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9650" y="234315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指针规则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9650" y="251460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0000FF"/>
                </a:solidFill>
                <a:latin typeface="微软雅黑"/>
                <a:ea typeface="微软雅黑"/>
              </a:rPr>
              <a:t>"写码前先读 wiki/index.md"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810000" y="1905000"/>
            <a:ext cx="0" cy="13335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71500" y="2933700"/>
            <a:ext cx="4000500" cy="160020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905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297180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知识层｜docs/wiki/ 按需读取（Agent 顺指针导航）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850" y="3200400"/>
            <a:ext cx="1143000" cy="304800"/>
          </a:xfrm>
          <a:prstGeom prst="roundRect">
            <a:avLst>
              <a:gd name="adj" fmla="val 12000"/>
            </a:avLst>
          </a:prstGeom>
          <a:solidFill>
            <a:srgbClr val="0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327660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index.md 总目录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81200" y="3200400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81200" y="321945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architecture/ 模块地图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81200" y="335280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依赖方向·数据流图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4700" y="3200400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4700" y="321945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domain/ 业务概念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4700" y="335280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术语表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850" y="3581400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850" y="360045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decisions/ ADR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850" y="373380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"为什么"而非"是什么"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81200" y="3581400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81200" y="360045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conventions/ 编码规范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81200" y="373380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555555"/>
                </a:solidFill>
                <a:latin typeface="微软雅黑"/>
                <a:ea typeface="微软雅黑"/>
              </a:rPr>
              <a:t>错误处理·内存模型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14700" y="3581400"/>
            <a:ext cx="1200150" cy="30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4700" y="360045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pitfalls/ 坑清单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4700" y="3733800"/>
            <a:ext cx="12001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700" b="0">
                <a:solidFill>
                  <a:srgbClr val="C00000"/>
                </a:solidFill>
                <a:latin typeface="微软雅黑"/>
                <a:ea typeface="微软雅黑"/>
              </a:rPr>
              <a:t>Agent 犯错后回写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850" y="3962400"/>
            <a:ext cx="3543300" cy="247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99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850" y="4000500"/>
            <a:ext cx="3543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0000FF"/>
                </a:solidFill>
                <a:latin typeface="微软雅黑"/>
                <a:ea typeface="微软雅黑"/>
              </a:rPr>
              <a:t>openspec/specs/ 活规格（存量资产，纳入 index 索引）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24400" y="2933700"/>
            <a:ext cx="2209800" cy="160020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57750" y="2971800"/>
            <a:ext cx="2000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结构层｜MCP 工具按需调用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57750" y="3200400"/>
            <a:ext cx="1943100" cy="4191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57750" y="323850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clangd MCP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57750" y="3409950"/>
            <a:ext cx="1943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微软雅黑"/>
                <a:ea typeface="微软雅黑"/>
              </a:rPr>
              <a:t>compile_commands.json 驱动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57750" y="3695700"/>
            <a:ext cx="933450" cy="228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7750" y="3733800"/>
            <a:ext cx="9334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find_definition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7400" y="3695700"/>
            <a:ext cx="933450" cy="228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67400" y="3733800"/>
            <a:ext cx="9334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000000"/>
                </a:solidFill>
                <a:latin typeface="微软雅黑"/>
                <a:ea typeface="微软雅黑"/>
              </a:rPr>
              <a:t>find_references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57750" y="4038600"/>
            <a:ext cx="19431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0000FF"/>
                </a:solidFill>
                <a:latin typeface="微软雅黑"/>
                <a:ea typeface="微软雅黑"/>
              </a:rPr>
              <a:t>编译器级精度，C/C++ 图谱最优解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1500" y="4667250"/>
            <a:ext cx="6362700" cy="4381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587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850" y="4705350"/>
            <a:ext cx="609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666666"/>
                </a:solidFill>
                <a:latin typeface="微软雅黑"/>
                <a:ea typeface="微软雅黑"/>
              </a:rPr>
              <a:t>可选补充层（痛点驱动，暂缓）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850" y="4876800"/>
            <a:ext cx="609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向量索引 MCP 插件（本地 sqlite-vec / claude-context）—— 仅当"概念找不到"类检索失败高频出现时再上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1500" y="5219700"/>
            <a:ext cx="6362700" cy="4191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500" y="5257800"/>
            <a:ext cx="636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大型 C/C++ 代码仓（100kloc ~ 数千 kloc）· 单一 git 仓统一版本化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500" y="5429250"/>
            <a:ext cx="636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源码 + wiki + specs + CLAUDE.md 同仓演进，PR 一起评审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239000" y="1390650"/>
            <a:ext cx="4533900" cy="18097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72350" y="15335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05700" y="146685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四条设计原则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2350" y="1733550"/>
            <a:ext cx="4267200" cy="1409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文件优先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：知识做成 Markdown，与 agentic search 零摩擦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分层加载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：常驻的最小化（宪法层），大部头按需读（知识层）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命令与指针优先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：宪法层写可执行命令 + 指向 wiki 的指针，不堆散文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复用编译器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：结构关系交给 clangd，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不自建图库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239000" y="3314700"/>
            <a:ext cx="4533900" cy="13144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72350" y="34575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05700" y="3390900"/>
            <a:ext cx="400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知识四缺口 → 层的映射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72350" y="3657600"/>
            <a:ext cx="4267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业务背景 →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知识层 domain/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架构信息 →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知识层 architecture/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 + 结构层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编码约束 →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宪法层 + conventions/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代码事实 → </a:t>
            </a:r>
            <a:r>
              <a:rPr sz="1000" b="1">
                <a:solidFill>
                  <a:srgbClr val="000000"/>
                </a:solidFill>
                <a:latin typeface="微软雅黑"/>
                <a:ea typeface="微软雅黑"/>
              </a:rPr>
              <a:t>结构层 clangd + grep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239000" y="4743450"/>
            <a:ext cx="4533900" cy="857250"/>
          </a:xfrm>
          <a:prstGeom prst="roundRect">
            <a:avLst>
              <a:gd name="adj" fmla="val 12000"/>
            </a:avLst>
          </a:prstGeom>
          <a:solidFill>
            <a:srgbClr val="FFF7F7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353300" y="4829175"/>
            <a:ext cx="457200" cy="1905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non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关键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05750" y="4819650"/>
            <a:ext cx="37338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CLAUDE.md 里必须写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路由规则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："符号查找用 LSP，字符串/注释检索才用 grep"——没有这条 Agent 会习惯性 grep。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3.2 项目知识库落地思路：落地方案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三个工作包按依赖递进——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存量资产组织化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（纯文档工作，立即见效）→ 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C/C++ 结构层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（工程量小、价值高）→ 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闭环与保鲜机制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（决定知识库存亡）；"一次写对"的天花板由第三个工作包决定。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第三部分 · 项目知识库落地思路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" y="1428750"/>
            <a:ext cx="36576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28750"/>
            <a:ext cx="358140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" y="1562100"/>
            <a:ext cx="3352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微软雅黑"/>
                <a:ea typeface="微软雅黑"/>
              </a:rPr>
              <a:t>工作包① 存量资产组织化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7907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纯文档工作 · 零基础设施依赖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000250"/>
            <a:ext cx="33528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盘点 docs / specs / skills 存量，建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docs/wiki/ 目录树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编写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index.md 总目录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：每页一行链接 + 一句话摘要（Karpathy 模式核心件）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CLAUDE.md 瘦身分层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：根文件只留跨域硬约束 + 命令 +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检索协议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deep-wiki 类 skill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自动生成初稿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，架构/约束页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人工评审后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收编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943350"/>
            <a:ext cx="3429000" cy="30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" y="3943350"/>
            <a:ext cx="32385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产出：可导航的分层 wiki + 瘦身后的宪法层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7200" y="1428750"/>
            <a:ext cx="36576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5300" y="1428750"/>
            <a:ext cx="358140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1562100"/>
            <a:ext cx="3352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微软雅黑"/>
                <a:ea typeface="微软雅黑"/>
              </a:rPr>
              <a:t>工作包② C/C++ 结构层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17907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工程量小 · 大仓价值最高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9600" y="2000250"/>
            <a:ext cx="33528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生成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compile_commands.json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（CMake 一个开关；其他构建系统用 bear / compiledb）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部署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clangd MCP Server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（Chromium 级大仓开箱即用；超大仓可选 remote-index）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CLAUDE.md 加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路由规则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"符号查找用 LSP 工具；字符串/注释/日志检索才用 grep"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（最易遗漏）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验证：跨模块引用追踪，对比 grep 与 LSP 的上下文消耗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1500" y="3943350"/>
            <a:ext cx="3429000" cy="30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6750" y="3943350"/>
            <a:ext cx="32385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产出：编译器级符号导航，替代"自建知识图谱"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5300" y="1428750"/>
            <a:ext cx="3657600" cy="29146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3400" y="1428750"/>
            <a:ext cx="3581400" cy="381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7700" y="1562100"/>
            <a:ext cx="33528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>
                <a:solidFill>
                  <a:srgbClr val="000000"/>
                </a:solidFill>
                <a:latin typeface="微软雅黑"/>
                <a:ea typeface="微软雅黑"/>
              </a:rPr>
              <a:t>工作包③ 闭环与保鲜机制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700" y="1790700"/>
            <a:ext cx="3352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决定知识库存亡 · 复利来源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7700" y="2000250"/>
            <a:ext cx="33528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OpenSpec 联动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/opsx:archive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 归档时同步检查受影响 wiki 页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错误回写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：Agent 犯错 → 修正 → 教训写进 pitfalls/ 或约束页（一句话即可）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CI 巡检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：wiki lint（死链、目录一致性），搭 openspec validate 的车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痛点观测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：记录检索失败案例；"概念找不到"高频出现时，再评估向量层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943350"/>
            <a:ext cx="3429000" cy="30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4850" y="3943350"/>
            <a:ext cx="32385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333333"/>
                </a:solidFill>
                <a:latin typeface="微软雅黑"/>
                <a:ea typeface="微软雅黑"/>
              </a:rPr>
              <a:t>产出：知识随代码演进而复利，不腐化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9100" y="4476750"/>
            <a:ext cx="11353800" cy="2000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2450" y="46196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52950"/>
            <a:ext cx="762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两个关键闭环（比任何检索基础设施都更接近"一次写对"）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450" y="4876800"/>
            <a:ext cx="247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C00000"/>
                </a:solidFill>
                <a:latin typeface="微软雅黑"/>
                <a:ea typeface="微软雅黑"/>
              </a:rPr>
              <a:t>闭环 1：错误 → 教训回写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2450" y="512445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450" y="52387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Agent 写错代码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981200" y="5343525"/>
            <a:ext cx="1905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171700" y="512445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1700" y="52387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人工修正 / 评审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600450" y="5343525"/>
            <a:ext cx="190500" cy="0"/>
          </a:xfrm>
          <a:prstGeom prst="line">
            <a:avLst/>
          </a:prstGeom>
          <a:ln w="190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790950" y="5124450"/>
            <a:ext cx="1428750" cy="4381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0950" y="5162550"/>
            <a:ext cx="14287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教训写入 pitfalls/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0950" y="5334000"/>
            <a:ext cx="1428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微软雅黑"/>
                <a:ea typeface="微软雅黑"/>
              </a:rPr>
              <a:t>或对应约束页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333500" y="5581650"/>
            <a:ext cx="2809875" cy="247650"/>
          </a:xfrm>
          <a:prstGeom prst="line">
            <a:avLst/>
          </a:prstGeom>
          <a:ln w="15875">
            <a:solidFill>
              <a:srgbClr val="C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09750" y="5791200"/>
            <a:ext cx="2095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C00000"/>
                </a:solidFill>
                <a:latin typeface="微软雅黑"/>
                <a:ea typeface="微软雅黑"/>
              </a:rPr>
              <a:t>下次会话不再犯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6500" y="4876800"/>
            <a:ext cx="2667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FF"/>
                </a:solidFill>
                <a:latin typeface="微软雅黑"/>
                <a:ea typeface="微软雅黑"/>
              </a:rPr>
              <a:t>闭环 2：变更 → 知识同步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86500" y="5124450"/>
            <a:ext cx="1600200" cy="4381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6500" y="5162550"/>
            <a:ext cx="1600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代码变更合入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6500" y="5334000"/>
            <a:ext cx="1600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微软雅黑"/>
                <a:ea typeface="微软雅黑"/>
              </a:rPr>
              <a:t>spec delta 归档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86700" y="5343525"/>
            <a:ext cx="20955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096250" y="5124450"/>
            <a:ext cx="1600200" cy="4381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6250" y="5162550"/>
            <a:ext cx="1600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/opsx:archive 钩子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6250" y="5334000"/>
            <a:ext cx="1600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微软雅黑"/>
                <a:ea typeface="微软雅黑"/>
              </a:rPr>
              <a:t>检查受影响 wiki 页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696450" y="5343525"/>
            <a:ext cx="209550" cy="0"/>
          </a:xfrm>
          <a:prstGeom prst="line">
            <a:avLst/>
          </a:prstGeom>
          <a:ln w="19050">
            <a:solidFill>
              <a:srgbClr val="0000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906000" y="5124450"/>
            <a:ext cx="1600200" cy="438150"/>
          </a:xfrm>
          <a:prstGeom prst="roundRect">
            <a:avLst>
              <a:gd name="adj" fmla="val 8000"/>
            </a:avLst>
          </a:prstGeom>
          <a:solidFill>
            <a:srgbClr val="F0F0FF"/>
          </a:solidFill>
          <a:ln w="127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6000" y="5162550"/>
            <a:ext cx="1600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wiki 更新 + CI lint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6000" y="5334000"/>
            <a:ext cx="16002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00" b="0">
                <a:solidFill>
                  <a:srgbClr val="555555"/>
                </a:solidFill>
                <a:latin typeface="微软雅黑"/>
                <a:ea typeface="微软雅黑"/>
              </a:rPr>
              <a:t>死链 / 一致性检查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7239000" y="5581650"/>
            <a:ext cx="3143250" cy="247650"/>
          </a:xfrm>
          <a:prstGeom prst="line">
            <a:avLst/>
          </a:prstGeom>
          <a:ln w="15875">
            <a:solidFill>
              <a:srgbClr val="0000F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096250" y="5791200"/>
            <a:ext cx="228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0000FF"/>
                </a:solidFill>
                <a:latin typeface="微软雅黑"/>
                <a:ea typeface="微软雅黑"/>
              </a:rPr>
              <a:t>知识与代码永不漂移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" y="228600"/>
            <a:ext cx="11353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  <a:latin typeface="微软雅黑"/>
                <a:ea typeface="微软雅黑"/>
              </a:rPr>
              <a:t>3.3 项目知识库落地思路：落地节奏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419100" y="685800"/>
            <a:ext cx="11353800" cy="5524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9100" y="685800"/>
            <a:ext cx="47625" cy="5524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0075" y="685800"/>
            <a:ext cx="11049000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结论：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按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依赖顺序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分三阶段推进，每阶段有明确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验收标准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；先在 1 个代表性代码仓试点、再横向复制到其余仓；向量层始终是</a:t>
            </a:r>
            <a:r>
              <a:rPr sz="1400" b="1">
                <a:solidFill>
                  <a:srgbClr val="000000"/>
                </a:solidFill>
                <a:latin typeface="微软雅黑"/>
                <a:ea typeface="微软雅黑"/>
              </a:rPr>
              <a:t>痛点驱动的可选项</a:t>
            </a:r>
            <a:r>
              <a:rPr sz="1400" b="0">
                <a:solidFill>
                  <a:srgbClr val="000000"/>
                </a:solidFill>
                <a:latin typeface="微软雅黑"/>
                <a:ea typeface="微软雅黑"/>
              </a:rPr>
              <a:t>，不进入默认节奏。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610350"/>
            <a:ext cx="6667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第三部分 · 项目知识库落地思路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0" y="6610350"/>
            <a:ext cx="1295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999999"/>
                </a:solidFill>
                <a:latin typeface="微软雅黑"/>
                <a:ea typeface="微软雅黑"/>
              </a:rPr>
              <a:t>12 / 12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4850" y="1809750"/>
            <a:ext cx="10782300" cy="0"/>
          </a:xfrm>
          <a:prstGeom prst="line">
            <a:avLst/>
          </a:prstGeom>
          <a:ln w="381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14425" y="1685925"/>
            <a:ext cx="247650" cy="24765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390650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阶段一 · 组织化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50" y="20002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试点仓：wiki + 宪法层瘦身</a:t>
            </a:r>
          </a:p>
        </p:txBody>
      </p:sp>
      <p:sp>
        <p:nvSpPr>
          <p:cNvPr id="13" name="Oval 12"/>
          <p:cNvSpPr/>
          <p:nvPr/>
        </p:nvSpPr>
        <p:spPr>
          <a:xfrm>
            <a:off x="4067175" y="1685925"/>
            <a:ext cx="247650" cy="24765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3750" y="1390650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阶段二 · 结构层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8500" y="20002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clangd MCP + 路由规则</a:t>
            </a:r>
          </a:p>
        </p:txBody>
      </p:sp>
      <p:sp>
        <p:nvSpPr>
          <p:cNvPr id="16" name="Oval 15"/>
          <p:cNvSpPr/>
          <p:nvPr/>
        </p:nvSpPr>
        <p:spPr>
          <a:xfrm>
            <a:off x="7019925" y="1685925"/>
            <a:ext cx="247650" cy="24765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1390650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C00000"/>
                </a:solidFill>
                <a:latin typeface="微软雅黑"/>
                <a:ea typeface="微软雅黑"/>
              </a:rPr>
              <a:t>阶段三 · 闭环保鲜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0" y="20002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</a:rPr>
              <a:t>双闭环 + CI 巡检 + 横向复制</a:t>
            </a:r>
          </a:p>
        </p:txBody>
      </p:sp>
      <p:sp>
        <p:nvSpPr>
          <p:cNvPr id="19" name="Oval 18"/>
          <p:cNvSpPr/>
          <p:nvPr/>
        </p:nvSpPr>
        <p:spPr>
          <a:xfrm>
            <a:off x="9972675" y="1685925"/>
            <a:ext cx="247650" cy="2476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000FF"/>
                </a:solidFill>
                <a:latin typeface="微软雅黑"/>
                <a:ea typeface="微软雅黑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1390650"/>
            <a:ext cx="1714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00FF"/>
                </a:solidFill>
                <a:latin typeface="微软雅黑"/>
                <a:ea typeface="微软雅黑"/>
              </a:rPr>
              <a:t>可选 · 向量层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002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000FF"/>
                </a:solidFill>
                <a:latin typeface="微软雅黑"/>
                <a:ea typeface="微软雅黑"/>
              </a:rPr>
              <a:t>仅当痛点数据支持时启动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09700" y="1809750"/>
            <a:ext cx="259080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362450" y="1809750"/>
            <a:ext cx="2590800" cy="0"/>
          </a:xfrm>
          <a:prstGeom prst="line">
            <a:avLst/>
          </a:prstGeom>
          <a:ln w="31750">
            <a:solidFill>
              <a:srgbClr val="C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15200" y="1809750"/>
            <a:ext cx="2590800" cy="0"/>
          </a:xfrm>
          <a:prstGeom prst="line">
            <a:avLst/>
          </a:prstGeom>
          <a:ln w="31750">
            <a:solidFill>
              <a:srgbClr val="C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9100" y="2286000"/>
            <a:ext cx="36576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2450" y="24288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36220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微软雅黑"/>
                <a:ea typeface="微软雅黑"/>
              </a:rPr>
              <a:t>阶段一：知识组织化（试点仓）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50" y="2628900"/>
            <a:ext cx="33909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选 1 个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代表性代码仓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试点（有活跃开发、有存量 docs/specs）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建 wiki 目录树 + index.md；CLAUDE.md 瘦身分层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deep-wiki skill 生成初稿 →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人工评审定稿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（优先架构页、约束页）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400" y="3848100"/>
            <a:ext cx="342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650" y="3886200"/>
            <a:ext cx="3238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验收：</a:t>
            </a:r>
            <a:r>
              <a:rPr sz="900" b="0">
                <a:solidFill>
                  <a:srgbClr val="333333"/>
                </a:solidFill>
                <a:latin typeface="微软雅黑"/>
                <a:ea typeface="微软雅黑"/>
              </a:rPr>
              <a:t>Agent 拿典型任务实测——能通过 index.md 两跳内找到正确的架构 / 约束页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67200" y="2286000"/>
            <a:ext cx="36576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00550" y="24288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3900" y="236220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微软雅黑"/>
                <a:ea typeface="微软雅黑"/>
              </a:rPr>
              <a:t>阶段二：结构层接入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0550" y="2628900"/>
            <a:ext cx="33909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打通 </a:t>
            </a:r>
            <a:r>
              <a:rPr sz="950" b="1">
                <a:solidFill>
                  <a:srgbClr val="0000FF"/>
                </a:solidFill>
                <a:latin typeface="微软雅黑"/>
                <a:ea typeface="微软雅黑"/>
              </a:rPr>
              <a:t>compile_commands.json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 生成（进 CI 产物）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部署 clangd MCP；宪法层写入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LSP/grep 路由规则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超大仓评估 clangd 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remote-index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1500" y="3848100"/>
            <a:ext cx="342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76750" y="3886200"/>
            <a:ext cx="3238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验收：</a:t>
            </a:r>
            <a:r>
              <a:rPr sz="900" b="0">
                <a:solidFill>
                  <a:srgbClr val="333333"/>
                </a:solidFill>
                <a:latin typeface="微软雅黑"/>
                <a:ea typeface="微软雅黑"/>
              </a:rPr>
              <a:t>跨模块引用追踪任务中，Agent 默认走 LSP；符号误定位显著减少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5300" y="2286000"/>
            <a:ext cx="3657600" cy="2190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48650" y="242887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2000" y="2362200"/>
            <a:ext cx="3429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微软雅黑"/>
                <a:ea typeface="微软雅黑"/>
              </a:rPr>
              <a:t>阶段三：闭环保鲜 + 复制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8650" y="2628900"/>
            <a:ext cx="33909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接通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双闭环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：错误回写 pitfalls/；/opsx:archive 联动 wiki 更新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CI 加 wiki lint（死链 / 目录一致性）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600" b="0">
                <a:solidFill>
                  <a:srgbClr val="C00000"/>
                </a:solidFill>
                <a:latin typeface="微软雅黑"/>
                <a:ea typeface="微软雅黑"/>
              </a:rPr>
              <a:t>● 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试点仓模式</a:t>
            </a:r>
            <a:r>
              <a:rPr sz="950" b="1">
                <a:solidFill>
                  <a:srgbClr val="000000"/>
                </a:solidFill>
                <a:latin typeface="微软雅黑"/>
                <a:ea typeface="微软雅黑"/>
              </a:rPr>
              <a:t>模板化</a:t>
            </a:r>
            <a:r>
              <a:rPr sz="950" b="0">
                <a:solidFill>
                  <a:srgbClr val="000000"/>
                </a:solidFill>
                <a:latin typeface="微软雅黑"/>
                <a:ea typeface="微软雅黑"/>
              </a:rPr>
              <a:t>，横向复制到其余代码仓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848100"/>
            <a:ext cx="3429000" cy="514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850" y="3886200"/>
            <a:ext cx="3238500" cy="438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1">
                <a:solidFill>
                  <a:srgbClr val="C00000"/>
                </a:solidFill>
                <a:latin typeface="微软雅黑"/>
                <a:ea typeface="微软雅黑"/>
              </a:rPr>
              <a:t>验收：</a:t>
            </a:r>
            <a:r>
              <a:rPr sz="900" b="0">
                <a:solidFill>
                  <a:srgbClr val="333333"/>
                </a:solidFill>
                <a:latin typeface="微软雅黑"/>
                <a:ea typeface="微软雅黑"/>
              </a:rPr>
              <a:t>连续多个迭代 wiki 与代码不漂移；同类错误不复发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9100" y="4629150"/>
            <a:ext cx="6667500" cy="123825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52450" y="4772025"/>
            <a:ext cx="76200" cy="7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7053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</a:rPr>
              <a:t>全程度量（判断"一次写对"是否在改善）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2450" y="5010150"/>
            <a:ext cx="14859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450" y="51244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一次通过率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2450" y="53530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PR 无需返工的比例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52650" y="5010150"/>
            <a:ext cx="14859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52650" y="51244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评审往返次数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52650" y="53530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约束类意见应趋零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52850" y="5010150"/>
            <a:ext cx="14859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52850" y="51244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检索失败案例数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2850" y="53530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按类型记录归因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53050" y="5010150"/>
            <a:ext cx="14859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53050" y="51244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</a:rPr>
              <a:t>重复错误率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53050" y="5353050"/>
            <a:ext cx="14859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850" b="0">
                <a:solidFill>
                  <a:srgbClr val="555555"/>
                </a:solidFill>
                <a:latin typeface="微软雅黑"/>
                <a:ea typeface="微软雅黑"/>
              </a:rPr>
              <a:t>同类错误二次出现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39000" y="4629150"/>
            <a:ext cx="4533900" cy="1238250"/>
          </a:xfrm>
          <a:prstGeom prst="roundRect">
            <a:avLst>
              <a:gd name="adj" fmla="val 8000"/>
            </a:avLst>
          </a:prstGeom>
          <a:solidFill>
            <a:srgbClr val="FFF7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72350" y="4743450"/>
            <a:ext cx="571500" cy="20955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决策门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72350" y="5029200"/>
            <a:ext cx="42672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向量层启动条件：检索失败案例中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"概念找不到 / 术语不一致"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类占比持续偏高。满足才立项，以 </a:t>
            </a:r>
            <a:r>
              <a:rPr sz="1000" b="1">
                <a:solidFill>
                  <a:srgbClr val="0000FF"/>
                </a:solidFill>
                <a:latin typeface="微软雅黑"/>
                <a:ea typeface="微软雅黑"/>
              </a:rPr>
              <a:t>MCP 插件</a:t>
            </a:r>
            <a:r>
              <a:rPr sz="1000" b="0">
                <a:solidFill>
                  <a:srgbClr val="000000"/>
                </a:solidFill>
                <a:latin typeface="微软雅黑"/>
                <a:ea typeface="微软雅黑"/>
              </a:rPr>
              <a:t>接入，不改造检索主干。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