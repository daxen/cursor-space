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77295" cy="5486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知识工程试点落地情况 —— Lite团队OH中枢特性试点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1277295" cy="279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9264"/>
            <a:ext cx="11277295" cy="365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/>
            <a:r>
              <a:rPr sz="1400" b="1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试点方案、效果评价、关键数据与下一步计划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08176"/>
            <a:ext cx="11277295" cy="5669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11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结论:</a:t>
            </a:r>
            <a:r>
              <a:rPr sz="11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基于 okl 工具(参考 LLM Wiki 方法论),逆向分析存量代码/文档并正向投喂设计文档,在 OH 中枢代码仓构建知识库;对代码中</a:t>
            </a:r>
            <a:r>
              <a:rPr sz="11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无法映射的概念</a:t>
            </a:r>
            <a:r>
              <a:rPr sz="11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,带知识库问答效果明显优于无知识库,回答更贴合设计文档;对</a:t>
            </a:r>
            <a:r>
              <a:rPr sz="11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可推导知识</a:t>
            </a:r>
            <a:r>
              <a:rPr sz="11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差距不大。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3624986" cy="749808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150 kloc</a:t>
            </a:r>
          </a:p>
          <a:p>
            <a:pPr algn="ctr">
              <a:spcBef>
                <a:spcPts val="100"/>
              </a:spcBef>
            </a:pPr>
            <a:r>
              <a:rPr sz="9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逆向分析代码规模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3354" y="2011680"/>
            <a:ext cx="3624986" cy="749808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4 + 69 篇</a:t>
            </a:r>
          </a:p>
          <a:p>
            <a:pPr algn="ctr">
              <a:spcBef>
                <a:spcPts val="100"/>
              </a:spcBef>
            </a:pPr>
            <a:r>
              <a:rPr sz="9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投喂:需求分析/功能设计 + 实现设计(MD)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9508" y="2011680"/>
            <a:ext cx="3624986" cy="749808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215 篇</a:t>
            </a:r>
          </a:p>
          <a:p>
            <a:pPr algn="ctr">
              <a:spcBef>
                <a:spcPts val="100"/>
              </a:spcBef>
            </a:pPr>
            <a:r>
              <a:rPr sz="9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知识库摄取 Wiki 文档总数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26080"/>
            <a:ext cx="5510631" cy="1572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82296" bIns="73152"/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一、内容描述(做了什么)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以 </a:t>
            </a:r>
            <a:r>
              <a:rPr sz="10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okl 工具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(参考 LLM Wiki 方法论)为核心开展试点;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0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逆向分析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存量代码与文档,提炼隐性知识;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0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正向投喂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设计文档,补齐代码无法表达的概念;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在 </a:t>
            </a:r>
            <a:r>
              <a:rPr sz="10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OH 中枢代码仓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内构建可检索、可问答的知识库。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3863" y="2926080"/>
            <a:ext cx="5510631" cy="1572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82296" bIns="73152"/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二、效果评价(主观)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代码中</a:t>
            </a:r>
            <a:r>
              <a:rPr sz="10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无法映射的概念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:带库问答</a:t>
            </a:r>
            <a:r>
              <a:rPr sz="10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明显优于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无库;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回答</a:t>
            </a:r>
            <a:r>
              <a:rPr sz="10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贴合设计文档中的概念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,解释更准确完整;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代码中</a:t>
            </a:r>
            <a:r>
              <a:rPr sz="10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可直接推导的知识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:带/不带库</a:t>
            </a:r>
            <a:r>
              <a:rPr sz="10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差距不大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;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判断:知识库在</a:t>
            </a:r>
            <a:r>
              <a:rPr sz="10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补齐设计意图类概念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上价值最突出。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663440"/>
            <a:ext cx="5510631" cy="1572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82296" bIns="73152"/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三、关键数据 · 摄取产出明细(共 215 篇)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流程页 </a:t>
            </a:r>
            <a:r>
              <a:rPr sz="10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154 篇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:含 </a:t>
            </a:r>
            <a:r>
              <a:rPr sz="10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24 条流程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的深挖子页;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 子模块页 </a:t>
            </a:r>
            <a:r>
              <a:rPr sz="10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34 篇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;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全局页 </a:t>
            </a:r>
            <a:r>
              <a:rPr sz="10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10 篇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:业务域、契约、用例、架构;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仓级页 </a:t>
            </a:r>
            <a:r>
              <a:rPr sz="10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17 篇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:overview、架构、数据模型等补充;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投喂来源:</a:t>
            </a:r>
            <a:r>
              <a:rPr sz="10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4 篇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wxalm 需求分析与功能设计 + </a:t>
            </a:r>
            <a:r>
              <a:rPr sz="10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69 篇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实现设计(markdown)。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3863" y="4663440"/>
            <a:ext cx="5510631" cy="1572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82296" bIns="73152"/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四、下一步计划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0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目录规整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:梳理知识库结构,提升可读性与检索效率;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引入</a:t>
            </a:r>
            <a:r>
              <a:rPr sz="10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知识库测评问题集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,量化评估问答质量;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在</a:t>
            </a:r>
            <a:r>
              <a:rPr sz="10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新需求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中应用知识库</a:t>
            </a:r>
            <a:r>
              <a:rPr sz="10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辅助编码</a:t>
            </a:r>
            <a:r>
              <a:rPr sz="10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,验证工程价值。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第 1 页 / 共 2 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77295" cy="5486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质量工程建设整体思路 —— 基于MTG建模的LLT用例自动生成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11277295" cy="279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9264"/>
            <a:ext cx="11277295" cy="365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/>
            <a:r>
              <a:rPr sz="1400" b="1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内容描述、TDD关键流程、关键点与进展计划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08176"/>
            <a:ext cx="11277295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11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思路:</a:t>
            </a:r>
            <a:r>
              <a:rPr sz="11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结合 </a:t>
            </a:r>
            <a:r>
              <a:rPr sz="11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MTG(Model Testing Generator)</a:t>
            </a:r>
            <a:r>
              <a:rPr sz="11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实践,将绘制好的</a:t>
            </a:r>
            <a:r>
              <a:rPr sz="11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活动图</a:t>
            </a:r>
            <a:r>
              <a:rPr sz="11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结合 AI 自动生成用例数据,自动生成测试用例,</a:t>
            </a:r>
            <a:r>
              <a:rPr sz="110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使能 TDD 开发流程</a:t>
            </a:r>
            <a:r>
              <a:rPr sz="110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938528"/>
            <a:ext cx="2586151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bIns="73152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STEP 1  </a:t>
            </a:r>
            <a:r>
              <a:rPr sz="1100" b="1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绘制活动图(关键)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sz="9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基于 </a:t>
            </a:r>
            <a:r>
              <a:rPr sz="95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AR 描述的业务场景</a:t>
            </a:r>
            <a:r>
              <a:rPr sz="9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绘制;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sz="9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入口为组件/对外模块</a:t>
            </a:r>
            <a:r>
              <a:rPr sz="95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API 入口</a:t>
            </a:r>
            <a:r>
              <a:rPr sz="9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(plantuml)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43351" y="2532888"/>
            <a:ext cx="310896" cy="29260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54247" y="1938528"/>
            <a:ext cx="2586151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bIns="73152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STEP 2  </a:t>
            </a:r>
            <a:r>
              <a:rPr sz="1100" b="1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MTG 生成用例设计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sz="9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基于活动图 + 已有 </a:t>
            </a:r>
            <a:r>
              <a:rPr sz="95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MTG 用例生成工具</a:t>
            </a:r>
            <a:r>
              <a:rPr sz="9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sz="9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输出用例设计</a:t>
            </a:r>
            <a:r>
              <a:rPr sz="95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(markdown)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40399" y="2532888"/>
            <a:ext cx="310896" cy="29260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51295" y="1938528"/>
            <a:ext cx="2586151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bIns="73152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STEP 3  </a:t>
            </a:r>
            <a:r>
              <a:rPr sz="1100" b="1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生成用例实现代码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sz="9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基于用例设计输出</a:t>
            </a:r>
            <a:r>
              <a:rPr sz="95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(markdown)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sz="9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自动生成</a:t>
            </a:r>
            <a:r>
              <a:rPr sz="95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用例实现代码</a:t>
            </a:r>
            <a:r>
              <a:rPr sz="9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837447" y="2532888"/>
            <a:ext cx="310896" cy="29260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8343" y="1938528"/>
            <a:ext cx="2586151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bIns="73152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STEP 4  </a:t>
            </a:r>
            <a:r>
              <a:rPr sz="1100" b="1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开发并跑通用例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sz="9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开发功能代码,</a:t>
            </a:r>
          </a:p>
          <a:p>
            <a:pPr algn="l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sz="9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将用例</a:t>
            </a:r>
            <a:r>
              <a:rPr sz="95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执行通过</a:t>
            </a:r>
            <a:r>
              <a:rPr sz="9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,完成 TDD 闭环。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611880"/>
            <a:ext cx="5740566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82296" bIns="73152"/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关键点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05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活动图</a:t>
            </a: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尽量</a:t>
            </a:r>
            <a:r>
              <a:rPr sz="105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不涉及代码实现细节</a:t>
            </a: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,不映射代码元素,基于</a:t>
            </a:r>
            <a:r>
              <a:rPr sz="105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业务场景</a:t>
            </a: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描述;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因 </a:t>
            </a:r>
            <a:r>
              <a:rPr sz="105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API 接口稳定</a:t>
            </a: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,据此生成的用例代码也</a:t>
            </a:r>
            <a:r>
              <a:rPr sz="105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稳定</a:t>
            </a: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,稳定性</a:t>
            </a:r>
            <a:r>
              <a:rPr sz="105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高于传统 UT</a:t>
            </a: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,不随代码实现频繁变化;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活动图与用例设计输出是</a:t>
            </a:r>
            <a:r>
              <a:rPr sz="105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结构化</a:t>
            </a: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的,利于 AI </a:t>
            </a:r>
            <a:r>
              <a:rPr sz="105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正向生成用例</a:t>
            </a: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,而非基于代码实现反推。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35510" y="3611880"/>
            <a:ext cx="5298984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82296" bIns="73152"/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当前进展 &amp; 下一步计划</a:t>
            </a:r>
          </a:p>
          <a:p>
            <a:pPr algn="l">
              <a:spcBef>
                <a:spcPts val="100"/>
              </a:spcBef>
              <a:spcAft>
                <a:spcPts val="150"/>
              </a:spcAft>
            </a:pPr>
            <a:r>
              <a:rPr sz="105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【当前进展】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已讨论明确</a:t>
            </a:r>
            <a:r>
              <a:rPr sz="105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整体方案思路</a:t>
            </a: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;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已选定</a:t>
            </a:r>
            <a:r>
              <a:rPr sz="105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AI 团队 agent 框架需求</a:t>
            </a: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与 </a:t>
            </a:r>
            <a:r>
              <a:rPr sz="105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Lite 团队 OH 中枢需求</a:t>
            </a: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作为试点项目。</a:t>
            </a:r>
          </a:p>
          <a:p>
            <a:pPr algn="l">
              <a:spcBef>
                <a:spcPts val="600"/>
              </a:spcBef>
              <a:spcAft>
                <a:spcPts val="150"/>
              </a:spcAft>
            </a:pPr>
            <a:r>
              <a:rPr sz="105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【下一步计划】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在试点项目中选取</a:t>
            </a:r>
            <a:r>
              <a:rPr sz="105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存量需求</a:t>
            </a: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,绘制 </a:t>
            </a:r>
            <a:r>
              <a:rPr sz="105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MTG 活动图</a:t>
            </a: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,并尝试</a:t>
            </a:r>
            <a:r>
              <a:rPr sz="1050" b="1" i="0">
                <a:solidFill>
                  <a:srgbClr val="0000FF"/>
                </a:solidFill>
                <a:latin typeface="微软雅黑"/>
                <a:ea typeface="微软雅黑"/>
                <a:cs typeface="微软雅黑"/>
              </a:rPr>
              <a:t>测试用例生成</a:t>
            </a:r>
            <a:r>
              <a:rPr sz="1050" b="0" i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第 2 页 / 共 2 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